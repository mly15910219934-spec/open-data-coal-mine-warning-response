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Lst>
  <p:sldSz cx="11430000" cy="1066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Figure 1. Overall framework for evaluating warning-to-response traceability in intelligent coal-mine safety management</a:t>
            </a:r>
          </a:p>
          <a:p>
            <a:r>
              <a:t>The P-W-D-A-V-F module maps evidence rather than representing an implemented mine-control system. The UCI experiment and public-record sample provide complementary evidence, not linked observations from a single operational chain. The potential feedback pathway describes how verification evidence and residual-risk information may inform model or workflow updates; it does not demonstrate a validated online feedback loop.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Figure 2. P-W-D-A-V-F coding procedure for public-record response-chain analysis</a:t>
            </a:r>
          </a:p>
          <a:p>
            <a:r>
              <a:t>The six steps define evidence categories, not a requirement that each case contains all six elements. Two coders independently review the same frozen source package. Cohen’s kappa is calculated from the original independent codes before consensus resolution. Final consensus coding assigns Clear support, Partial support or Not identifiable separately to each element and is reported in S1 Table. No composite response-chain score is calculated.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4" name="shape-1"/>
          <p:cNvSpPr>
            <a:spLocks noGrp="1"/>
          </p:cNvSpPr>
          <p:nvPr/>
        </p:nvSpPr>
        <p:spPr>
          <a:xfrm>
            <a:off x="285750" y="228600"/>
            <a:ext cx="3333750" cy="781050"/>
          </a:xfrm>
          <a:prstGeom prst="rect">
            <a:avLst/>
          </a:prstGeom>
          <a:noFill/>
          <a:ln w="0">
            <a:noFill/>
          </a:ln>
        </p:spPr>
        <p:txBody>
          <a:bodyPr wrap="square" lIns="76200" tIns="57150" rIns="76200" bIns="57150" anchor="ctr">
            <a:noAutofit/>
          </a:bodyPr>
          <a:lstStyle/>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Open-data warning</a:t>
            </a:r>
            <a:endParaRPr sz="2100" b="1">
              <a:solidFill>
                <a:srgbClr val="1F4E79"/>
              </a:solidFill>
              <a:latin typeface="Arial" panose="020B0604020202020204"/>
              <a:ea typeface="Arial" panose="020B0604020202020204"/>
              <a:cs typeface="Arial" panose="020B0604020202020204"/>
            </a:endParaRPr>
          </a:p>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evaluation</a:t>
            </a:r>
            <a:endParaRPr sz="2100" b="1">
              <a:solidFill>
                <a:srgbClr val="1F4E79"/>
              </a:solidFill>
              <a:latin typeface="Arial" panose="020B0604020202020204"/>
              <a:ea typeface="Arial" panose="020B0604020202020204"/>
              <a:cs typeface="Arial" panose="020B0604020202020204"/>
            </a:endParaRPr>
          </a:p>
        </p:txBody>
      </p:sp>
      <p:sp>
        <p:nvSpPr>
          <p:cNvPr id="2" name="shape-2"/>
          <p:cNvSpPr>
            <a:spLocks noGrp="1"/>
          </p:cNvSpPr>
          <p:nvPr/>
        </p:nvSpPr>
        <p:spPr>
          <a:xfrm>
            <a:off x="4048125" y="0"/>
            <a:ext cx="3333750" cy="952500"/>
          </a:xfrm>
          <a:prstGeom prst="rect">
            <a:avLst/>
          </a:prstGeom>
          <a:noFill/>
          <a:ln w="0">
            <a:noFill/>
          </a:ln>
        </p:spPr>
        <p:txBody>
          <a:bodyPr wrap="square" lIns="28575" tIns="9525" rIns="28575" bIns="9525" anchor="ctr">
            <a:noAutofit/>
          </a:bodyPr>
          <a:lstStyle/>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Warning-response</a:t>
            </a:r>
            <a:endParaRPr sz="2100" b="1">
              <a:solidFill>
                <a:srgbClr val="1F4E79"/>
              </a:solidFill>
              <a:latin typeface="Arial" panose="020B0604020202020204"/>
              <a:ea typeface="Arial" panose="020B0604020202020204"/>
              <a:cs typeface="Arial" panose="020B0604020202020204"/>
            </a:endParaRPr>
          </a:p>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traceability evaluation</a:t>
            </a:r>
            <a:endParaRPr sz="2100" b="1">
              <a:solidFill>
                <a:srgbClr val="1F4E79"/>
              </a:solidFill>
              <a:latin typeface="Arial" panose="020B0604020202020204"/>
              <a:ea typeface="Arial" panose="020B0604020202020204"/>
              <a:cs typeface="Arial" panose="020B0604020202020204"/>
            </a:endParaRPr>
          </a:p>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framework</a:t>
            </a:r>
            <a:endParaRPr sz="2100" b="1">
              <a:solidFill>
                <a:srgbClr val="1F4E79"/>
              </a:solidFill>
              <a:latin typeface="Arial" panose="020B0604020202020204"/>
              <a:ea typeface="Arial" panose="020B0604020202020204"/>
              <a:cs typeface="Arial" panose="020B0604020202020204"/>
            </a:endParaRPr>
          </a:p>
        </p:txBody>
      </p:sp>
      <p:sp>
        <p:nvSpPr>
          <p:cNvPr id="3" name="shape-3"/>
          <p:cNvSpPr>
            <a:spLocks noGrp="1"/>
          </p:cNvSpPr>
          <p:nvPr/>
        </p:nvSpPr>
        <p:spPr>
          <a:xfrm>
            <a:off x="7810500" y="228600"/>
            <a:ext cx="3333750" cy="781050"/>
          </a:xfrm>
          <a:prstGeom prst="rect">
            <a:avLst/>
          </a:prstGeom>
          <a:noFill/>
          <a:ln w="0">
            <a:noFill/>
          </a:ln>
        </p:spPr>
        <p:txBody>
          <a:bodyPr wrap="square" lIns="76200" tIns="57150" rIns="76200" bIns="57150" anchor="ctr">
            <a:noAutofit/>
          </a:bodyPr>
          <a:lstStyle/>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Public-record</a:t>
            </a:r>
            <a:endParaRPr sz="2100" b="1">
              <a:solidFill>
                <a:srgbClr val="1F4E79"/>
              </a:solidFill>
              <a:latin typeface="Arial" panose="020B0604020202020204"/>
              <a:ea typeface="Arial" panose="020B0604020202020204"/>
              <a:cs typeface="Arial" panose="020B0604020202020204"/>
            </a:endParaRPr>
          </a:p>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evidence review</a:t>
            </a:r>
            <a:endParaRPr sz="2100" b="1">
              <a:solidFill>
                <a:srgbClr val="1F4E79"/>
              </a:solidFill>
              <a:latin typeface="Arial" panose="020B0604020202020204"/>
              <a:ea typeface="Arial" panose="020B0604020202020204"/>
              <a:cs typeface="Arial" panose="020B0604020202020204"/>
            </a:endParaRPr>
          </a:p>
        </p:txBody>
      </p:sp>
      <p:sp>
        <p:nvSpPr>
          <p:cNvPr id="4" name="shape-4"/>
          <p:cNvSpPr>
            <a:spLocks noGrp="1"/>
          </p:cNvSpPr>
          <p:nvPr/>
        </p:nvSpPr>
        <p:spPr>
          <a:xfrm>
            <a:off x="285750" y="1257300"/>
            <a:ext cx="3333750" cy="6667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UCI Seismic-bumps</a:t>
            </a:r>
            <a:endParaRPr sz="1800" b="0">
              <a:solidFill>
                <a:srgbClr val="222B33"/>
              </a:solidFill>
              <a:latin typeface="Arial" panose="020B0604020202020204"/>
              <a:ea typeface="Arial" panose="020B0604020202020204"/>
              <a:cs typeface="Arial" panose="020B0604020202020204"/>
            </a:endParaRPr>
          </a:p>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dataset</a:t>
            </a:r>
            <a:endParaRPr sz="1800" b="0">
              <a:solidFill>
                <a:srgbClr val="222B33"/>
              </a:solidFill>
              <a:latin typeface="Arial" panose="020B0604020202020204"/>
              <a:ea typeface="Arial" panose="020B0604020202020204"/>
              <a:cs typeface="Arial" panose="020B0604020202020204"/>
            </a:endParaRPr>
          </a:p>
        </p:txBody>
      </p:sp>
      <p:sp>
        <p:nvSpPr>
          <p:cNvPr id="5" name="shape-5"/>
          <p:cNvSpPr>
            <a:spLocks noGrp="1"/>
          </p:cNvSpPr>
          <p:nvPr/>
        </p:nvSpPr>
        <p:spPr>
          <a:xfrm>
            <a:off x="285750" y="2286000"/>
            <a:ext cx="3333750" cy="5905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Data preprocessing</a:t>
            </a:r>
            <a:endParaRPr sz="1800" b="0">
              <a:solidFill>
                <a:srgbClr val="222B33"/>
              </a:solidFill>
              <a:latin typeface="Arial" panose="020B0604020202020204"/>
              <a:ea typeface="Arial" panose="020B0604020202020204"/>
              <a:cs typeface="Arial" panose="020B0604020202020204"/>
            </a:endParaRPr>
          </a:p>
        </p:txBody>
      </p:sp>
      <p:sp>
        <p:nvSpPr>
          <p:cNvPr id="6" name="shape-6"/>
          <p:cNvSpPr>
            <a:spLocks noGrp="1"/>
          </p:cNvSpPr>
          <p:nvPr/>
        </p:nvSpPr>
        <p:spPr>
          <a:xfrm>
            <a:off x="285750" y="3238500"/>
            <a:ext cx="3333750" cy="160020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Machine learning models</a:t>
            </a:r>
            <a:endParaRPr sz="1725" b="0">
              <a:solidFill>
                <a:srgbClr val="222B33"/>
              </a:solidFill>
              <a:latin typeface="Arial" panose="020B0604020202020204"/>
              <a:ea typeface="Arial" panose="020B0604020202020204"/>
              <a:cs typeface="Arial" panose="020B0604020202020204"/>
            </a:endParaRPr>
          </a:p>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Logistic Regression</a:t>
            </a:r>
            <a:endParaRPr sz="1725" b="0">
              <a:solidFill>
                <a:srgbClr val="222B33"/>
              </a:solidFill>
              <a:latin typeface="Arial" panose="020B0604020202020204"/>
              <a:ea typeface="Arial" panose="020B0604020202020204"/>
              <a:cs typeface="Arial" panose="020B0604020202020204"/>
            </a:endParaRPr>
          </a:p>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Random Forest</a:t>
            </a:r>
            <a:endParaRPr sz="1725" b="0">
              <a:solidFill>
                <a:srgbClr val="222B33"/>
              </a:solidFill>
              <a:latin typeface="Arial" panose="020B0604020202020204"/>
              <a:ea typeface="Arial" panose="020B0604020202020204"/>
              <a:cs typeface="Arial" panose="020B0604020202020204"/>
            </a:endParaRPr>
          </a:p>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Gradient Boosting</a:t>
            </a:r>
            <a:endParaRPr sz="1725" b="0">
              <a:solidFill>
                <a:srgbClr val="222B33"/>
              </a:solidFill>
              <a:latin typeface="Arial" panose="020B0604020202020204"/>
              <a:ea typeface="Arial" panose="020B0604020202020204"/>
              <a:cs typeface="Arial" panose="020B0604020202020204"/>
            </a:endParaRPr>
          </a:p>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SVM</a:t>
            </a:r>
            <a:endParaRPr sz="1725" b="0">
              <a:solidFill>
                <a:srgbClr val="222B33"/>
              </a:solidFill>
              <a:latin typeface="Arial" panose="020B0604020202020204"/>
              <a:ea typeface="Arial" panose="020B0604020202020204"/>
              <a:cs typeface="Arial" panose="020B0604020202020204"/>
            </a:endParaRPr>
          </a:p>
        </p:txBody>
      </p:sp>
      <p:sp>
        <p:nvSpPr>
          <p:cNvPr id="7" name="shape-7"/>
          <p:cNvSpPr>
            <a:spLocks noGrp="1"/>
          </p:cNvSpPr>
          <p:nvPr/>
        </p:nvSpPr>
        <p:spPr>
          <a:xfrm>
            <a:off x="285750" y="5200650"/>
            <a:ext cx="3333750" cy="10477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Warning evaluation</a:t>
            </a:r>
            <a:endParaRPr sz="1725" b="0">
              <a:solidFill>
                <a:srgbClr val="222B33"/>
              </a:solidFill>
              <a:latin typeface="Arial" panose="020B0604020202020204"/>
              <a:ea typeface="Arial" panose="020B0604020202020204"/>
              <a:cs typeface="Arial" panose="020B0604020202020204"/>
            </a:endParaRPr>
          </a:p>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ROC-AUC, PR-AUC, Recall</a:t>
            </a:r>
            <a:endParaRPr sz="1725" b="0">
              <a:solidFill>
                <a:srgbClr val="222B33"/>
              </a:solidFill>
              <a:latin typeface="Arial" panose="020B0604020202020204"/>
              <a:ea typeface="Arial" panose="020B0604020202020204"/>
              <a:cs typeface="Arial" panose="020B0604020202020204"/>
            </a:endParaRPr>
          </a:p>
          <a:p>
            <a:pPr algn="ctr">
              <a:buNone/>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Brier score, Alert burden</a:t>
            </a:r>
            <a:endParaRPr sz="1725" b="0">
              <a:solidFill>
                <a:srgbClr val="222B33"/>
              </a:solidFill>
              <a:latin typeface="Arial" panose="020B0604020202020204"/>
              <a:ea typeface="Arial" panose="020B0604020202020204"/>
              <a:cs typeface="Arial" panose="020B0604020202020204"/>
            </a:endParaRPr>
          </a:p>
        </p:txBody>
      </p:sp>
      <p:cxnSp>
        <p:nvCxnSpPr>
          <p:cNvPr id="127" name="直接箭头连接符 126"/>
          <p:cNvCxnSpPr>
            <a:stCxn id="4" idx="2"/>
            <a:endCxn id="5" idx="0"/>
          </p:cNvCxnSpPr>
          <p:nvPr/>
        </p:nvCxnSpPr>
        <p:spPr>
          <a:xfrm>
            <a:off x="1952625" y="1924050"/>
            <a:ext cx="0" cy="361950"/>
          </a:xfrm>
          <a:prstGeom prst="straightConnector1">
            <a:avLst/>
          </a:prstGeom>
          <a:ln w="20955">
            <a:solidFill>
              <a:srgbClr val="1F4E79"/>
            </a:solidFill>
            <a:prstDash val="solid"/>
            <a:tailEnd type="triangle" w="sm" len="sm"/>
          </a:ln>
        </p:spPr>
      </p:cxnSp>
      <p:cxnSp>
        <p:nvCxnSpPr>
          <p:cNvPr id="128" name="直接箭头连接符 127"/>
          <p:cNvCxnSpPr>
            <a:stCxn id="5" idx="2"/>
            <a:endCxn id="6" idx="0"/>
          </p:cNvCxnSpPr>
          <p:nvPr/>
        </p:nvCxnSpPr>
        <p:spPr>
          <a:xfrm>
            <a:off x="1952625" y="2876550"/>
            <a:ext cx="0" cy="361950"/>
          </a:xfrm>
          <a:prstGeom prst="straightConnector1">
            <a:avLst/>
          </a:prstGeom>
          <a:ln w="20955">
            <a:solidFill>
              <a:srgbClr val="1F4E79"/>
            </a:solidFill>
            <a:prstDash val="solid"/>
            <a:tailEnd type="triangle" w="sm" len="sm"/>
          </a:ln>
        </p:spPr>
      </p:cxnSp>
      <p:cxnSp>
        <p:nvCxnSpPr>
          <p:cNvPr id="129" name="直接箭头连接符 128"/>
          <p:cNvCxnSpPr>
            <a:stCxn id="6" idx="2"/>
            <a:endCxn id="7" idx="0"/>
          </p:cNvCxnSpPr>
          <p:nvPr/>
        </p:nvCxnSpPr>
        <p:spPr>
          <a:xfrm>
            <a:off x="1952625" y="4838700"/>
            <a:ext cx="0" cy="361950"/>
          </a:xfrm>
          <a:prstGeom prst="straightConnector1">
            <a:avLst/>
          </a:prstGeom>
          <a:ln w="20955">
            <a:solidFill>
              <a:srgbClr val="1F4E79"/>
            </a:solidFill>
            <a:prstDash val="solid"/>
            <a:tailEnd type="triangle" w="sm" len="sm"/>
          </a:ln>
        </p:spPr>
      </p:cxnSp>
      <p:sp>
        <p:nvSpPr>
          <p:cNvPr id="11" name="shape-8"/>
          <p:cNvSpPr>
            <a:spLocks noGrp="1"/>
          </p:cNvSpPr>
          <p:nvPr/>
        </p:nvSpPr>
        <p:spPr>
          <a:xfrm>
            <a:off x="4048125" y="1257300"/>
            <a:ext cx="3333750" cy="53340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Perception (P)</a:t>
            </a:r>
            <a:endParaRPr sz="1800" b="0">
              <a:solidFill>
                <a:srgbClr val="222B33"/>
              </a:solidFill>
              <a:latin typeface="Arial" panose="020B0604020202020204"/>
              <a:ea typeface="Arial" panose="020B0604020202020204"/>
              <a:cs typeface="Arial" panose="020B0604020202020204"/>
            </a:endParaRPr>
          </a:p>
        </p:txBody>
      </p:sp>
      <p:sp>
        <p:nvSpPr>
          <p:cNvPr id="12" name="shape-9"/>
          <p:cNvSpPr>
            <a:spLocks noGrp="1"/>
          </p:cNvSpPr>
          <p:nvPr/>
        </p:nvSpPr>
        <p:spPr>
          <a:xfrm>
            <a:off x="4048125" y="2143125"/>
            <a:ext cx="3333750" cy="53340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Warning (W)</a:t>
            </a:r>
            <a:endParaRPr sz="1800" b="0">
              <a:solidFill>
                <a:srgbClr val="222B33"/>
              </a:solidFill>
              <a:latin typeface="Arial" panose="020B0604020202020204"/>
              <a:ea typeface="Arial" panose="020B0604020202020204"/>
              <a:cs typeface="Arial" panose="020B0604020202020204"/>
            </a:endParaRPr>
          </a:p>
        </p:txBody>
      </p:sp>
      <p:sp>
        <p:nvSpPr>
          <p:cNvPr id="13" name="shape-10"/>
          <p:cNvSpPr>
            <a:spLocks noGrp="1"/>
          </p:cNvSpPr>
          <p:nvPr/>
        </p:nvSpPr>
        <p:spPr>
          <a:xfrm>
            <a:off x="4048125" y="3028950"/>
            <a:ext cx="3333750" cy="53340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Dispatch (D)</a:t>
            </a:r>
            <a:endParaRPr sz="1800" b="0">
              <a:solidFill>
                <a:srgbClr val="222B33"/>
              </a:solidFill>
              <a:latin typeface="Arial" panose="020B0604020202020204"/>
              <a:ea typeface="Arial" panose="020B0604020202020204"/>
              <a:cs typeface="Arial" panose="020B0604020202020204"/>
            </a:endParaRPr>
          </a:p>
        </p:txBody>
      </p:sp>
      <p:sp>
        <p:nvSpPr>
          <p:cNvPr id="14" name="shape-11"/>
          <p:cNvSpPr>
            <a:spLocks noGrp="1"/>
          </p:cNvSpPr>
          <p:nvPr/>
        </p:nvSpPr>
        <p:spPr>
          <a:xfrm>
            <a:off x="4048125" y="3914775"/>
            <a:ext cx="3333750" cy="533400"/>
          </a:xfrm>
          <a:prstGeom prst="rect">
            <a:avLst/>
          </a:prstGeom>
          <a:solidFill>
            <a:srgbClr val="FBEDE8"/>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Response action (A)</a:t>
            </a:r>
            <a:endParaRPr sz="1800" b="0">
              <a:solidFill>
                <a:srgbClr val="222B33"/>
              </a:solidFill>
              <a:latin typeface="Arial" panose="020B0604020202020204"/>
              <a:ea typeface="Arial" panose="020B0604020202020204"/>
              <a:cs typeface="Arial" panose="020B0604020202020204"/>
            </a:endParaRPr>
          </a:p>
        </p:txBody>
      </p:sp>
      <p:sp>
        <p:nvSpPr>
          <p:cNvPr id="15" name="shape-12"/>
          <p:cNvSpPr>
            <a:spLocks noGrp="1"/>
          </p:cNvSpPr>
          <p:nvPr/>
        </p:nvSpPr>
        <p:spPr>
          <a:xfrm>
            <a:off x="4048125" y="4800600"/>
            <a:ext cx="3333750" cy="53340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Verification (V)</a:t>
            </a:r>
            <a:endParaRPr sz="1800" b="0">
              <a:solidFill>
                <a:srgbClr val="222B33"/>
              </a:solidFill>
              <a:latin typeface="Arial" panose="020B0604020202020204"/>
              <a:ea typeface="Arial" panose="020B0604020202020204"/>
              <a:cs typeface="Arial" panose="020B0604020202020204"/>
            </a:endParaRPr>
          </a:p>
        </p:txBody>
      </p:sp>
      <p:sp>
        <p:nvSpPr>
          <p:cNvPr id="16" name="shape-13"/>
          <p:cNvSpPr>
            <a:spLocks noGrp="1"/>
          </p:cNvSpPr>
          <p:nvPr/>
        </p:nvSpPr>
        <p:spPr>
          <a:xfrm>
            <a:off x="4048125" y="5686425"/>
            <a:ext cx="3333750" cy="53340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Feedback (F)</a:t>
            </a:r>
            <a:endParaRPr sz="1800" b="0">
              <a:solidFill>
                <a:srgbClr val="222B33"/>
              </a:solidFill>
              <a:latin typeface="Arial" panose="020B0604020202020204"/>
              <a:ea typeface="Arial" panose="020B0604020202020204"/>
              <a:cs typeface="Arial" panose="020B0604020202020204"/>
            </a:endParaRPr>
          </a:p>
        </p:txBody>
      </p:sp>
      <p:cxnSp>
        <p:nvCxnSpPr>
          <p:cNvPr id="136" name="直接箭头连接符 135"/>
          <p:cNvCxnSpPr>
            <a:stCxn id="11" idx="2"/>
            <a:endCxn id="12" idx="0"/>
          </p:cNvCxnSpPr>
          <p:nvPr/>
        </p:nvCxnSpPr>
        <p:spPr>
          <a:xfrm>
            <a:off x="5715000" y="1790700"/>
            <a:ext cx="0" cy="352425"/>
          </a:xfrm>
          <a:prstGeom prst="straightConnector1">
            <a:avLst/>
          </a:prstGeom>
          <a:ln w="20955">
            <a:solidFill>
              <a:srgbClr val="1F4E79"/>
            </a:solidFill>
            <a:prstDash val="solid"/>
            <a:tailEnd type="triangle" w="sm" len="sm"/>
          </a:ln>
        </p:spPr>
      </p:cxnSp>
      <p:cxnSp>
        <p:nvCxnSpPr>
          <p:cNvPr id="137" name="直接箭头连接符 136"/>
          <p:cNvCxnSpPr>
            <a:stCxn id="12" idx="2"/>
            <a:endCxn id="13" idx="0"/>
          </p:cNvCxnSpPr>
          <p:nvPr/>
        </p:nvCxnSpPr>
        <p:spPr>
          <a:xfrm>
            <a:off x="5715000" y="2676525"/>
            <a:ext cx="0" cy="352425"/>
          </a:xfrm>
          <a:prstGeom prst="straightConnector1">
            <a:avLst/>
          </a:prstGeom>
          <a:ln w="20955">
            <a:solidFill>
              <a:srgbClr val="1F4E79"/>
            </a:solidFill>
            <a:prstDash val="solid"/>
            <a:tailEnd type="triangle" w="sm" len="sm"/>
          </a:ln>
        </p:spPr>
      </p:cxnSp>
      <p:cxnSp>
        <p:nvCxnSpPr>
          <p:cNvPr id="138" name="直接箭头连接符 137"/>
          <p:cNvCxnSpPr>
            <a:stCxn id="13" idx="2"/>
            <a:endCxn id="14" idx="0"/>
          </p:cNvCxnSpPr>
          <p:nvPr/>
        </p:nvCxnSpPr>
        <p:spPr>
          <a:xfrm>
            <a:off x="5715000" y="3562350"/>
            <a:ext cx="0" cy="352425"/>
          </a:xfrm>
          <a:prstGeom prst="straightConnector1">
            <a:avLst/>
          </a:prstGeom>
          <a:ln w="20955">
            <a:solidFill>
              <a:srgbClr val="1F4E79"/>
            </a:solidFill>
            <a:prstDash val="solid"/>
            <a:tailEnd type="triangle" w="sm" len="sm"/>
          </a:ln>
        </p:spPr>
      </p:cxnSp>
      <p:cxnSp>
        <p:nvCxnSpPr>
          <p:cNvPr id="139" name="直接箭头连接符 138"/>
          <p:cNvCxnSpPr>
            <a:stCxn id="14" idx="2"/>
            <a:endCxn id="15" idx="0"/>
          </p:cNvCxnSpPr>
          <p:nvPr/>
        </p:nvCxnSpPr>
        <p:spPr>
          <a:xfrm>
            <a:off x="5715000" y="4448175"/>
            <a:ext cx="0" cy="352425"/>
          </a:xfrm>
          <a:prstGeom prst="straightConnector1">
            <a:avLst/>
          </a:prstGeom>
          <a:ln w="20955">
            <a:solidFill>
              <a:srgbClr val="1F4E79"/>
            </a:solidFill>
            <a:prstDash val="solid"/>
            <a:tailEnd type="triangle" w="sm" len="sm"/>
          </a:ln>
        </p:spPr>
      </p:cxnSp>
      <p:cxnSp>
        <p:nvCxnSpPr>
          <p:cNvPr id="140" name="直接箭头连接符 139"/>
          <p:cNvCxnSpPr>
            <a:stCxn id="15" idx="2"/>
            <a:endCxn id="16" idx="0"/>
          </p:cNvCxnSpPr>
          <p:nvPr/>
        </p:nvCxnSpPr>
        <p:spPr>
          <a:xfrm>
            <a:off x="5715000" y="5334000"/>
            <a:ext cx="0" cy="352425"/>
          </a:xfrm>
          <a:prstGeom prst="straightConnector1">
            <a:avLst/>
          </a:prstGeom>
          <a:ln w="20955">
            <a:solidFill>
              <a:srgbClr val="1F4E79"/>
            </a:solidFill>
            <a:prstDash val="solid"/>
            <a:tailEnd type="triangle" w="sm" len="sm"/>
          </a:ln>
        </p:spPr>
      </p:cxnSp>
      <p:sp>
        <p:nvSpPr>
          <p:cNvPr id="22" name="shape-14"/>
          <p:cNvSpPr>
            <a:spLocks noGrp="1"/>
          </p:cNvSpPr>
          <p:nvPr/>
        </p:nvSpPr>
        <p:spPr>
          <a:xfrm>
            <a:off x="7810500" y="1257300"/>
            <a:ext cx="3333750" cy="6667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32 public cases</a:t>
            </a:r>
            <a:endParaRPr sz="1800" b="0">
              <a:solidFill>
                <a:srgbClr val="222B33"/>
              </a:solidFill>
              <a:latin typeface="Arial" panose="020B0604020202020204"/>
              <a:ea typeface="Arial" panose="020B0604020202020204"/>
              <a:cs typeface="Arial" panose="020B0604020202020204"/>
            </a:endParaRPr>
          </a:p>
        </p:txBody>
      </p:sp>
      <p:sp>
        <p:nvSpPr>
          <p:cNvPr id="23" name="shape-15"/>
          <p:cNvSpPr>
            <a:spLocks noGrp="1"/>
          </p:cNvSpPr>
          <p:nvPr/>
        </p:nvSpPr>
        <p:spPr>
          <a:xfrm>
            <a:off x="7810500" y="2333625"/>
            <a:ext cx="3333750" cy="6667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Source collection</a:t>
            </a:r>
            <a:endParaRPr sz="1800" b="0">
              <a:solidFill>
                <a:srgbClr val="222B33"/>
              </a:solidFill>
              <a:latin typeface="Arial" panose="020B0604020202020204"/>
              <a:ea typeface="Arial" panose="020B0604020202020204"/>
              <a:cs typeface="Arial" panose="020B0604020202020204"/>
            </a:endParaRPr>
          </a:p>
        </p:txBody>
      </p:sp>
      <p:sp>
        <p:nvSpPr>
          <p:cNvPr id="24" name="shape-16"/>
          <p:cNvSpPr>
            <a:spLocks noGrp="1"/>
          </p:cNvSpPr>
          <p:nvPr/>
        </p:nvSpPr>
        <p:spPr>
          <a:xfrm>
            <a:off x="7810500" y="3409950"/>
            <a:ext cx="3333750" cy="6667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Independent coding</a:t>
            </a:r>
            <a:endParaRPr sz="1800" b="0">
              <a:solidFill>
                <a:srgbClr val="222B33"/>
              </a:solidFill>
              <a:latin typeface="Arial" panose="020B0604020202020204"/>
              <a:ea typeface="Arial" panose="020B0604020202020204"/>
              <a:cs typeface="Arial" panose="020B0604020202020204"/>
            </a:endParaRPr>
          </a:p>
        </p:txBody>
      </p:sp>
      <p:sp>
        <p:nvSpPr>
          <p:cNvPr id="25" name="shape-17"/>
          <p:cNvSpPr>
            <a:spLocks noGrp="1"/>
          </p:cNvSpPr>
          <p:nvPr/>
        </p:nvSpPr>
        <p:spPr>
          <a:xfrm>
            <a:off x="7810500" y="4486275"/>
            <a:ext cx="3333750" cy="6667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Consensus coding</a:t>
            </a:r>
            <a:endParaRPr sz="1800" b="0">
              <a:solidFill>
                <a:srgbClr val="222B33"/>
              </a:solidFill>
              <a:latin typeface="Arial" panose="020B0604020202020204"/>
              <a:ea typeface="Arial" panose="020B0604020202020204"/>
              <a:cs typeface="Arial" panose="020B0604020202020204"/>
            </a:endParaRPr>
          </a:p>
        </p:txBody>
      </p:sp>
      <p:sp>
        <p:nvSpPr>
          <p:cNvPr id="26" name="shape-18"/>
          <p:cNvSpPr>
            <a:spLocks noGrp="1"/>
          </p:cNvSpPr>
          <p:nvPr/>
        </p:nvSpPr>
        <p:spPr>
          <a:xfrm>
            <a:off x="7810500" y="5562600"/>
            <a:ext cx="3333750" cy="6667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Evidence interpretation</a:t>
            </a:r>
            <a:endParaRPr sz="1800" b="0">
              <a:solidFill>
                <a:srgbClr val="222B33"/>
              </a:solidFill>
              <a:latin typeface="Arial" panose="020B0604020202020204"/>
              <a:ea typeface="Arial" panose="020B0604020202020204"/>
              <a:cs typeface="Arial" panose="020B0604020202020204"/>
            </a:endParaRPr>
          </a:p>
        </p:txBody>
      </p:sp>
      <p:cxnSp>
        <p:nvCxnSpPr>
          <p:cNvPr id="146" name="直接箭头连接符 145"/>
          <p:cNvCxnSpPr>
            <a:stCxn id="22" idx="2"/>
            <a:endCxn id="23" idx="0"/>
          </p:cNvCxnSpPr>
          <p:nvPr/>
        </p:nvCxnSpPr>
        <p:spPr>
          <a:xfrm>
            <a:off x="9477375" y="1924050"/>
            <a:ext cx="0" cy="409575"/>
          </a:xfrm>
          <a:prstGeom prst="straightConnector1">
            <a:avLst/>
          </a:prstGeom>
          <a:ln w="20955">
            <a:solidFill>
              <a:srgbClr val="1F4E79"/>
            </a:solidFill>
            <a:prstDash val="solid"/>
            <a:tailEnd type="triangle" w="sm" len="sm"/>
          </a:ln>
        </p:spPr>
      </p:cxnSp>
      <p:cxnSp>
        <p:nvCxnSpPr>
          <p:cNvPr id="147" name="直接箭头连接符 146"/>
          <p:cNvCxnSpPr>
            <a:stCxn id="23" idx="2"/>
            <a:endCxn id="24" idx="0"/>
          </p:cNvCxnSpPr>
          <p:nvPr/>
        </p:nvCxnSpPr>
        <p:spPr>
          <a:xfrm>
            <a:off x="9477375" y="3000375"/>
            <a:ext cx="0" cy="409575"/>
          </a:xfrm>
          <a:prstGeom prst="straightConnector1">
            <a:avLst/>
          </a:prstGeom>
          <a:ln w="20955">
            <a:solidFill>
              <a:srgbClr val="1F4E79"/>
            </a:solidFill>
            <a:prstDash val="solid"/>
            <a:tailEnd type="triangle" w="sm" len="sm"/>
          </a:ln>
        </p:spPr>
      </p:cxnSp>
      <p:cxnSp>
        <p:nvCxnSpPr>
          <p:cNvPr id="148" name="直接箭头连接符 147"/>
          <p:cNvCxnSpPr>
            <a:stCxn id="24" idx="2"/>
            <a:endCxn id="25" idx="0"/>
          </p:cNvCxnSpPr>
          <p:nvPr/>
        </p:nvCxnSpPr>
        <p:spPr>
          <a:xfrm>
            <a:off x="9477375" y="4076700"/>
            <a:ext cx="0" cy="409575"/>
          </a:xfrm>
          <a:prstGeom prst="straightConnector1">
            <a:avLst/>
          </a:prstGeom>
          <a:ln w="20955">
            <a:solidFill>
              <a:srgbClr val="1F4E79"/>
            </a:solidFill>
            <a:prstDash val="solid"/>
            <a:tailEnd type="triangle" w="sm" len="sm"/>
          </a:ln>
        </p:spPr>
      </p:cxnSp>
      <p:cxnSp>
        <p:nvCxnSpPr>
          <p:cNvPr id="149" name="直接箭头连接符 148"/>
          <p:cNvCxnSpPr>
            <a:stCxn id="25" idx="2"/>
            <a:endCxn id="26" idx="0"/>
          </p:cNvCxnSpPr>
          <p:nvPr/>
        </p:nvCxnSpPr>
        <p:spPr>
          <a:xfrm>
            <a:off x="9477375" y="5153025"/>
            <a:ext cx="0" cy="409575"/>
          </a:xfrm>
          <a:prstGeom prst="straightConnector1">
            <a:avLst/>
          </a:prstGeom>
          <a:ln w="20955">
            <a:solidFill>
              <a:srgbClr val="1F4E79"/>
            </a:solidFill>
            <a:prstDash val="solid"/>
            <a:tailEnd type="triangle" w="sm" len="sm"/>
          </a:ln>
        </p:spPr>
      </p:cxnSp>
      <p:sp>
        <p:nvSpPr>
          <p:cNvPr id="31" name="shape-19"/>
          <p:cNvSpPr>
            <a:spLocks noGrp="1"/>
          </p:cNvSpPr>
          <p:nvPr/>
        </p:nvSpPr>
        <p:spPr>
          <a:xfrm>
            <a:off x="1428750" y="6429375"/>
            <a:ext cx="8572500" cy="495300"/>
          </a:xfrm>
          <a:prstGeom prst="rect">
            <a:avLst/>
          </a:prstGeom>
          <a:noFill/>
          <a:ln w="0">
            <a:noFill/>
          </a:ln>
        </p:spPr>
        <p:txBody>
          <a:bodyPr wrap="square" lIns="76200" tIns="57150" rIns="76200" bIns="57150" anchor="ctr">
            <a:noAutofit/>
          </a:bodyPr>
          <a:lstStyle/>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Warning generation  +  response traceability</a:t>
            </a:r>
            <a:endParaRPr sz="2100" b="1">
              <a:solidFill>
                <a:srgbClr val="1F4E79"/>
              </a:solidFill>
              <a:latin typeface="Arial" panose="020B0604020202020204"/>
              <a:ea typeface="Arial" panose="020B0604020202020204"/>
              <a:cs typeface="Arial" panose="020B0604020202020204"/>
            </a:endParaRPr>
          </a:p>
        </p:txBody>
      </p:sp>
      <p:sp>
        <p:nvSpPr>
          <p:cNvPr id="42" name="summary-arrow"/>
          <p:cNvSpPr>
            <a:spLocks noGrp="1"/>
          </p:cNvSpPr>
          <p:nvPr/>
        </p:nvSpPr>
        <p:spPr>
          <a:xfrm>
            <a:off x="285750" y="9563100"/>
            <a:ext cx="10858500" cy="666750"/>
          </a:xfrm>
          <a:prstGeom prst="rightArrow">
            <a:avLst/>
          </a:prstGeom>
          <a:solidFill>
            <a:srgbClr val="F8FBFD"/>
          </a:solidFill>
          <a:ln w="14288">
            <a:solidFill>
              <a:srgbClr val="1F4E79"/>
            </a:solidFill>
          </a:ln>
        </p:spPr>
        <p:txBody>
          <a:bodyPr lIns="114300" tIns="76200" rIns="381000" bIns="76200" anchor="ctr">
            <a:noAutofit/>
          </a:bodyPr>
          <a:lstStyle/>
          <a:p>
            <a:pPr algn="ctr">
              <a:buNone/>
              <a:defRPr sz="1875" b="1">
                <a:solidFill>
                  <a:srgbClr val="1F4E79"/>
                </a:solidFill>
                <a:latin typeface="Arial" panose="020B0604020202020204"/>
                <a:ea typeface="Arial" panose="020B0604020202020204"/>
                <a:cs typeface="Arial" panose="020B0604020202020204"/>
              </a:defRPr>
            </a:pPr>
            <a:r>
              <a:rPr lang="en-US" altLang="zh-CN" sz="1875" b="1">
                <a:solidFill>
                  <a:srgbClr val="1F4E79"/>
                </a:solidFill>
                <a:latin typeface="Arial" panose="020B0604020202020204"/>
                <a:ea typeface="Arial" panose="020B0604020202020204"/>
                <a:cs typeface="Arial" panose="020B0604020202020204"/>
              </a:rPr>
              <a:t>From warning evidence to documented response records</a:t>
            </a:r>
            <a:endParaRPr lang="en-US" altLang="zh-CN" sz="1875" b="1">
              <a:solidFill>
                <a:srgbClr val="1F4E79"/>
              </a:solidFill>
              <a:latin typeface="Arial" panose="020B0604020202020204"/>
              <a:ea typeface="Arial" panose="020B0604020202020204"/>
              <a:cs typeface="Arial" panose="020B0604020202020204"/>
            </a:endParaRPr>
          </a:p>
        </p:txBody>
      </p:sp>
      <p:sp>
        <p:nvSpPr>
          <p:cNvPr id="43" name="shape-26"/>
          <p:cNvSpPr>
            <a:spLocks noGrp="1"/>
          </p:cNvSpPr>
          <p:nvPr/>
        </p:nvSpPr>
        <p:spPr>
          <a:xfrm>
            <a:off x="666750" y="10287000"/>
            <a:ext cx="10096500" cy="304800"/>
          </a:xfrm>
          <a:prstGeom prst="rect">
            <a:avLst/>
          </a:prstGeom>
          <a:noFill/>
          <a:ln w="0">
            <a:noFill/>
          </a:ln>
        </p:spPr>
        <p:txBody>
          <a:bodyPr wrap="square" lIns="76200" tIns="57150" rIns="76200" bIns="57150" anchor="ctr">
            <a:noAutofit/>
          </a:bodyPr>
          <a:lstStyle/>
          <a:p>
            <a:pPr algn="ctr">
              <a:buNone/>
              <a:defRPr sz="1500" b="0">
                <a:solidFill>
                  <a:srgbClr val="222B33"/>
                </a:solidFill>
                <a:latin typeface="Arial" panose="020B0604020202020204"/>
                <a:ea typeface="Arial" panose="020B0604020202020204"/>
                <a:cs typeface="Arial" panose="020B0604020202020204"/>
              </a:defRPr>
            </a:pPr>
            <a:r>
              <a:rPr sz="1500" b="0">
                <a:solidFill>
                  <a:srgbClr val="222B33"/>
                </a:solidFill>
                <a:latin typeface="Arial" panose="020B0604020202020204"/>
                <a:ea typeface="Arial" panose="020B0604020202020204"/>
                <a:cs typeface="Arial" panose="020B0604020202020204"/>
              </a:rPr>
              <a:t>Complementary evidence sources, not a single operational chain</a:t>
            </a:r>
            <a:endParaRPr sz="1500" b="0">
              <a:solidFill>
                <a:srgbClr val="222B33"/>
              </a:solidFill>
              <a:latin typeface="Arial" panose="020B0604020202020204"/>
              <a:ea typeface="Arial" panose="020B0604020202020204"/>
              <a:cs typeface="Arial" panose="020B0604020202020204"/>
            </a:endParaRPr>
          </a:p>
        </p:txBody>
      </p:sp>
      <p:sp>
        <p:nvSpPr>
          <p:cNvPr id="74" name="final-1"/>
          <p:cNvSpPr>
            <a:spLocks noGrp="1"/>
          </p:cNvSpPr>
          <p:nvPr/>
        </p:nvSpPr>
        <p:spPr>
          <a:xfrm>
            <a:off x="2667000" y="6991350"/>
            <a:ext cx="6096000" cy="457200"/>
          </a:xfrm>
          <a:prstGeom prst="rect">
            <a:avLst/>
          </a:prstGeom>
          <a:noFill/>
          <a:ln w="0">
            <a:noFill/>
          </a:ln>
        </p:spPr>
        <p:txBody>
          <a:bodyPr wrap="square" lIns="76200" tIns="57150" rIns="76200" bIns="57150" anchor="ctr">
            <a:noAutofit/>
          </a:bodyPr>
          <a:lstStyle/>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Potential feedback pathway</a:t>
            </a:r>
            <a:endParaRPr sz="2100" b="1">
              <a:solidFill>
                <a:srgbClr val="1F4E79"/>
              </a:solidFill>
              <a:latin typeface="Arial" panose="020B0604020202020204"/>
              <a:ea typeface="Arial" panose="020B0604020202020204"/>
              <a:cs typeface="Arial" panose="020B0604020202020204"/>
            </a:endParaRPr>
          </a:p>
        </p:txBody>
      </p:sp>
      <p:sp>
        <p:nvSpPr>
          <p:cNvPr id="75" name="final-2"/>
          <p:cNvSpPr>
            <a:spLocks noGrp="1"/>
          </p:cNvSpPr>
          <p:nvPr/>
        </p:nvSpPr>
        <p:spPr>
          <a:xfrm>
            <a:off x="3571875" y="7524750"/>
            <a:ext cx="4286250" cy="4381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Verification evidence</a:t>
            </a:r>
            <a:endParaRPr sz="1800" b="0">
              <a:solidFill>
                <a:srgbClr val="222B33"/>
              </a:solidFill>
              <a:latin typeface="Arial" panose="020B0604020202020204"/>
              <a:ea typeface="Arial" panose="020B0604020202020204"/>
              <a:cs typeface="Arial" panose="020B0604020202020204"/>
            </a:endParaRPr>
          </a:p>
        </p:txBody>
      </p:sp>
      <p:sp>
        <p:nvSpPr>
          <p:cNvPr id="76" name="final-3"/>
          <p:cNvSpPr>
            <a:spLocks noGrp="1"/>
          </p:cNvSpPr>
          <p:nvPr/>
        </p:nvSpPr>
        <p:spPr>
          <a:xfrm>
            <a:off x="3571875" y="8220075"/>
            <a:ext cx="4286250" cy="4381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Residual-risk information</a:t>
            </a:r>
            <a:endParaRPr sz="1800" b="0">
              <a:solidFill>
                <a:srgbClr val="222B33"/>
              </a:solidFill>
              <a:latin typeface="Arial" panose="020B0604020202020204"/>
              <a:ea typeface="Arial" panose="020B0604020202020204"/>
              <a:cs typeface="Arial" panose="020B0604020202020204"/>
            </a:endParaRPr>
          </a:p>
        </p:txBody>
      </p:sp>
      <p:sp>
        <p:nvSpPr>
          <p:cNvPr id="77" name="final-4"/>
          <p:cNvSpPr>
            <a:spLocks noGrp="1"/>
          </p:cNvSpPr>
          <p:nvPr/>
        </p:nvSpPr>
        <p:spPr>
          <a:xfrm>
            <a:off x="3571875" y="8915400"/>
            <a:ext cx="4286250" cy="438150"/>
          </a:xfrm>
          <a:prstGeom prst="rect">
            <a:avLst/>
          </a:prstGeom>
          <a:solidFill>
            <a:srgbClr val="F8FBFD"/>
          </a:solidFill>
          <a:ln w="14288">
            <a:solidFill>
              <a:srgbClr val="1F4E79"/>
            </a:solidFill>
          </a:ln>
        </p:spPr>
        <p:txBody>
          <a:bodyPr wrap="square" lIns="76200" tIns="57150" rIns="76200" bIns="57150" anchor="ctr">
            <a:noAutofit/>
          </a:bodyPr>
          <a:lstStyle/>
          <a:p>
            <a:pPr algn="ctr">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Model/workflow update</a:t>
            </a:r>
            <a:endParaRPr sz="1800" b="0">
              <a:solidFill>
                <a:srgbClr val="222B33"/>
              </a:solidFill>
              <a:latin typeface="Arial" panose="020B0604020202020204"/>
              <a:ea typeface="Arial" panose="020B0604020202020204"/>
              <a:cs typeface="Arial" panose="020B0604020202020204"/>
            </a:endParaRPr>
          </a:p>
        </p:txBody>
      </p:sp>
      <p:cxnSp>
        <p:nvCxnSpPr>
          <p:cNvPr id="157" name="直接箭头连接符 156"/>
          <p:cNvCxnSpPr>
            <a:stCxn id="75" idx="2"/>
            <a:endCxn id="76" idx="0"/>
          </p:cNvCxnSpPr>
          <p:nvPr/>
        </p:nvCxnSpPr>
        <p:spPr>
          <a:xfrm>
            <a:off x="5715000" y="7962900"/>
            <a:ext cx="0" cy="257175"/>
          </a:xfrm>
          <a:prstGeom prst="straightConnector1">
            <a:avLst/>
          </a:prstGeom>
          <a:ln w="20955">
            <a:solidFill>
              <a:srgbClr val="1F4E79"/>
            </a:solidFill>
            <a:prstDash val="solid"/>
            <a:tailEnd type="triangle" w="sm" len="sm"/>
          </a:ln>
        </p:spPr>
      </p:cxnSp>
      <p:cxnSp>
        <p:nvCxnSpPr>
          <p:cNvPr id="158" name="直接箭头连接符 157"/>
          <p:cNvCxnSpPr>
            <a:stCxn id="76" idx="2"/>
            <a:endCxn id="77" idx="0"/>
          </p:cNvCxnSpPr>
          <p:nvPr/>
        </p:nvCxnSpPr>
        <p:spPr>
          <a:xfrm>
            <a:off x="5715000" y="8658225"/>
            <a:ext cx="0" cy="257175"/>
          </a:xfrm>
          <a:prstGeom prst="straightConnector1">
            <a:avLst/>
          </a:prstGeom>
          <a:ln w="20955">
            <a:solidFill>
              <a:srgbClr val="1F4E79"/>
            </a:solidFill>
            <a:prstDash val="solid"/>
            <a:tailEnd type="triangle" w="sm" len="sm"/>
          </a:ln>
        </p:spPr>
      </p:cxnSp>
      <p:sp>
        <p:nvSpPr>
          <p:cNvPr id="119" name="submission-1"/>
          <p:cNvSpPr>
            <a:spLocks noGrp="1"/>
          </p:cNvSpPr>
          <p:nvPr/>
        </p:nvSpPr>
        <p:spPr>
          <a:xfrm>
            <a:off x="4000500" y="952500"/>
            <a:ext cx="3429000" cy="266700"/>
          </a:xfrm>
          <a:prstGeom prst="rect">
            <a:avLst/>
          </a:prstGeom>
          <a:noFill/>
          <a:ln w="0">
            <a:noFill/>
          </a:ln>
        </p:spPr>
        <p:txBody>
          <a:bodyPr wrap="square" lIns="57150" tIns="28575" rIns="57150" bIns="28575" anchor="ctr">
            <a:noAutofit/>
          </a:bodyPr>
          <a:lstStyle/>
          <a:p>
            <a:pPr algn="ctr">
              <a:defRPr sz="1425" b="0">
                <a:solidFill>
                  <a:srgbClr val="555D65"/>
                </a:solidFill>
                <a:latin typeface="Arial" panose="020B0604020202020204"/>
                <a:ea typeface="Arial" panose="020B0604020202020204"/>
                <a:cs typeface="Arial" panose="020B0604020202020204"/>
              </a:defRPr>
            </a:pPr>
            <a:r>
              <a:rPr sz="1425" b="0">
                <a:solidFill>
                  <a:srgbClr val="555D65"/>
                </a:solidFill>
                <a:latin typeface="Arial" panose="020B0604020202020204"/>
                <a:ea typeface="Arial" panose="020B0604020202020204"/>
                <a:cs typeface="Arial" panose="020B0604020202020204"/>
              </a:rPr>
              <a:t>P-W-D-A-V-F evidence mapping</a:t>
            </a:r>
            <a:endParaRPr sz="1425" b="0">
              <a:solidFill>
                <a:srgbClr val="555D65"/>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shape-27"/>
          <p:cNvSpPr>
            <a:spLocks noGrp="1"/>
          </p:cNvSpPr>
          <p:nvPr/>
        </p:nvSpPr>
        <p:spPr>
          <a:xfrm>
            <a:off x="952500" y="133350"/>
            <a:ext cx="9525000" cy="800100"/>
          </a:xfrm>
          <a:prstGeom prst="rect">
            <a:avLst/>
          </a:prstGeom>
          <a:noFill/>
          <a:ln w="0">
            <a:noFill/>
          </a:ln>
        </p:spPr>
        <p:txBody>
          <a:bodyPr wrap="square" lIns="76200" tIns="38100" rIns="76200" bIns="38100" anchor="ctr">
            <a:noAutofit/>
          </a:bodyPr>
          <a:lstStyle/>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P-W-D-A-V-F coding procedure</a:t>
            </a:r>
            <a:endParaRPr sz="2100" b="1">
              <a:solidFill>
                <a:srgbClr val="1F4E79"/>
              </a:solidFill>
              <a:latin typeface="Arial" panose="020B0604020202020204"/>
              <a:ea typeface="Arial" panose="020B0604020202020204"/>
              <a:cs typeface="Arial" panose="020B0604020202020204"/>
            </a:endParaRPr>
          </a:p>
          <a:p>
            <a:pPr algn="ctr">
              <a:buNone/>
              <a:defRPr sz="2100" b="1">
                <a:solidFill>
                  <a:srgbClr val="1F4E79"/>
                </a:solidFill>
                <a:latin typeface="Arial" panose="020B0604020202020204"/>
                <a:ea typeface="Arial" panose="020B0604020202020204"/>
                <a:cs typeface="Arial" panose="020B0604020202020204"/>
              </a:defRPr>
            </a:pPr>
            <a:r>
              <a:rPr sz="2100" b="1">
                <a:solidFill>
                  <a:srgbClr val="1F4E79"/>
                </a:solidFill>
                <a:latin typeface="Arial" panose="020B0604020202020204"/>
                <a:ea typeface="Arial" panose="020B0604020202020204"/>
                <a:cs typeface="Arial" panose="020B0604020202020204"/>
              </a:rPr>
              <a:t>for public-record response-chain analysis</a:t>
            </a:r>
            <a:endParaRPr sz="2100" b="1">
              <a:solidFill>
                <a:srgbClr val="1F4E79"/>
              </a:solidFill>
              <a:latin typeface="Arial" panose="020B0604020202020204"/>
              <a:ea typeface="Arial" panose="020B0604020202020204"/>
              <a:cs typeface="Arial" panose="020B0604020202020204"/>
            </a:endParaRPr>
          </a:p>
        </p:txBody>
      </p:sp>
      <p:sp>
        <p:nvSpPr>
          <p:cNvPr id="2" name="shape-28"/>
          <p:cNvSpPr>
            <a:spLocks noGrp="1"/>
          </p:cNvSpPr>
          <p:nvPr/>
        </p:nvSpPr>
        <p:spPr>
          <a:xfrm>
            <a:off x="952500" y="1047750"/>
            <a:ext cx="9525000" cy="876300"/>
          </a:xfrm>
          <a:prstGeom prst="rect">
            <a:avLst/>
          </a:prstGeom>
          <a:solidFill>
            <a:srgbClr val="F8FBFD"/>
          </a:solidFill>
          <a:ln w="14288">
            <a:solidFill>
              <a:srgbClr val="1F4E79"/>
            </a:solidFill>
          </a:ln>
        </p:spPr>
        <p:txBody>
          <a:bodyPr wrap="square" lIns="76200" tIns="57150" rIns="76200" bIns="57150" anchor="ctr">
            <a:noAutofit/>
          </a:bodyPr>
          <a:lstStyle/>
          <a:p/>
        </p:txBody>
      </p:sp>
      <p:sp>
        <p:nvSpPr>
          <p:cNvPr id="3" name="shape-29"/>
          <p:cNvSpPr>
            <a:spLocks noGrp="1"/>
          </p:cNvSpPr>
          <p:nvPr/>
        </p:nvSpPr>
        <p:spPr>
          <a:xfrm>
            <a:off x="1123950" y="1209675"/>
            <a:ext cx="533400" cy="533400"/>
          </a:xfrm>
          <a:prstGeom prst="rect">
            <a:avLst/>
          </a:prstGeom>
          <a:solidFill>
            <a:srgbClr val="1F4E79"/>
          </a:solidFill>
          <a:ln w="14288">
            <a:solidFill>
              <a:srgbClr val="1F4E79"/>
            </a:solidFill>
          </a:ln>
        </p:spPr>
        <p:txBody>
          <a:bodyPr wrap="square" lIns="76200" tIns="57150" rIns="76200" bIns="57150" anchor="ctr">
            <a:noAutofit/>
          </a:bodyPr>
          <a:lstStyle/>
          <a:p>
            <a:pPr algn="ctr">
              <a:buNone/>
              <a:defRPr sz="2100" b="1">
                <a:solidFill>
                  <a:srgbClr val="FFFFFF"/>
                </a:solidFill>
                <a:latin typeface="Arial" panose="020B0604020202020204"/>
                <a:ea typeface="Arial" panose="020B0604020202020204"/>
                <a:cs typeface="Arial" panose="020B0604020202020204"/>
              </a:defRPr>
            </a:pPr>
            <a:r>
              <a:rPr sz="2100" b="1">
                <a:solidFill>
                  <a:srgbClr val="FFFFFF"/>
                </a:solidFill>
                <a:latin typeface="Arial" panose="020B0604020202020204"/>
                <a:ea typeface="Arial" panose="020B0604020202020204"/>
                <a:cs typeface="Arial" panose="020B0604020202020204"/>
              </a:rPr>
              <a:t>1</a:t>
            </a:r>
            <a:endParaRPr sz="2100" b="1">
              <a:solidFill>
                <a:srgbClr val="FFFFFF"/>
              </a:solidFill>
              <a:latin typeface="Arial" panose="020B0604020202020204"/>
              <a:ea typeface="Arial" panose="020B0604020202020204"/>
              <a:cs typeface="Arial" panose="020B0604020202020204"/>
            </a:endParaRPr>
          </a:p>
        </p:txBody>
      </p:sp>
      <p:sp>
        <p:nvSpPr>
          <p:cNvPr id="4" name="shape-30"/>
          <p:cNvSpPr>
            <a:spLocks noGrp="1"/>
          </p:cNvSpPr>
          <p:nvPr/>
        </p:nvSpPr>
        <p:spPr>
          <a:xfrm>
            <a:off x="1838325" y="1085850"/>
            <a:ext cx="8334375" cy="361950"/>
          </a:xfrm>
          <a:prstGeom prst="rect">
            <a:avLst/>
          </a:prstGeom>
          <a:noFill/>
          <a:ln w="0">
            <a:noFill/>
          </a:ln>
        </p:spPr>
        <p:txBody>
          <a:bodyPr wrap="square" lIns="76200" tIns="57150" rIns="76200" bIns="57150" anchor="ctr">
            <a:noAutofit/>
          </a:bodyPr>
          <a:lstStyle/>
          <a:p>
            <a:pPr algn="l">
              <a:buNone/>
              <a:defRPr sz="1950" b="1">
                <a:solidFill>
                  <a:srgbClr val="222B33"/>
                </a:solidFill>
                <a:latin typeface="Arial" panose="020B0604020202020204"/>
                <a:ea typeface="Arial" panose="020B0604020202020204"/>
                <a:cs typeface="Arial" panose="020B0604020202020204"/>
              </a:defRPr>
            </a:pPr>
            <a:r>
              <a:rPr sz="1950" b="1">
                <a:solidFill>
                  <a:srgbClr val="222B33"/>
                </a:solidFill>
                <a:latin typeface="Arial" panose="020B0604020202020204"/>
                <a:ea typeface="Arial" panose="020B0604020202020204"/>
                <a:cs typeface="Arial" panose="020B0604020202020204"/>
              </a:rPr>
              <a:t>Perception input</a:t>
            </a:r>
            <a:endParaRPr sz="1950" b="1">
              <a:solidFill>
                <a:srgbClr val="222B33"/>
              </a:solidFill>
              <a:latin typeface="Arial" panose="020B0604020202020204"/>
              <a:ea typeface="Arial" panose="020B0604020202020204"/>
              <a:cs typeface="Arial" panose="020B0604020202020204"/>
            </a:endParaRPr>
          </a:p>
        </p:txBody>
      </p:sp>
      <p:sp>
        <p:nvSpPr>
          <p:cNvPr id="5" name="shape-31"/>
          <p:cNvSpPr>
            <a:spLocks noGrp="1"/>
          </p:cNvSpPr>
          <p:nvPr/>
        </p:nvSpPr>
        <p:spPr>
          <a:xfrm>
            <a:off x="1838325" y="1457325"/>
            <a:ext cx="8334375" cy="409575"/>
          </a:xfrm>
          <a:prstGeom prst="rect">
            <a:avLst/>
          </a:prstGeom>
          <a:noFill/>
          <a:ln w="0">
            <a:noFill/>
          </a:ln>
        </p:spPr>
        <p:txBody>
          <a:bodyPr wrap="square" lIns="76200" tIns="57150" rIns="76200" bIns="57150" anchor="ctr">
            <a:noAutofit/>
          </a:bodyPr>
          <a:lstStyle/>
          <a:p>
            <a:pPr algn="l">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Sensors, video analytics, continuous monitoring</a:t>
            </a:r>
            <a:endParaRPr sz="1800" b="0">
              <a:solidFill>
                <a:srgbClr val="222B33"/>
              </a:solidFill>
              <a:latin typeface="Arial" panose="020B0604020202020204"/>
              <a:ea typeface="Arial" panose="020B0604020202020204"/>
              <a:cs typeface="Arial" panose="020B0604020202020204"/>
            </a:endParaRPr>
          </a:p>
        </p:txBody>
      </p:sp>
      <p:sp>
        <p:nvSpPr>
          <p:cNvPr id="6" name="shape-32"/>
          <p:cNvSpPr>
            <a:spLocks noGrp="1"/>
          </p:cNvSpPr>
          <p:nvPr/>
        </p:nvSpPr>
        <p:spPr>
          <a:xfrm>
            <a:off x="952500" y="2019300"/>
            <a:ext cx="9525000" cy="876300"/>
          </a:xfrm>
          <a:prstGeom prst="rect">
            <a:avLst/>
          </a:prstGeom>
          <a:solidFill>
            <a:srgbClr val="F8FBFD"/>
          </a:solidFill>
          <a:ln w="14288">
            <a:solidFill>
              <a:srgbClr val="1F4E79"/>
            </a:solidFill>
          </a:ln>
        </p:spPr>
        <p:txBody>
          <a:bodyPr wrap="square" lIns="76200" tIns="57150" rIns="76200" bIns="57150" anchor="ctr">
            <a:noAutofit/>
          </a:bodyPr>
          <a:lstStyle/>
          <a:p/>
        </p:txBody>
      </p:sp>
      <p:sp>
        <p:nvSpPr>
          <p:cNvPr id="7" name="shape-33"/>
          <p:cNvSpPr>
            <a:spLocks noGrp="1"/>
          </p:cNvSpPr>
          <p:nvPr/>
        </p:nvSpPr>
        <p:spPr>
          <a:xfrm>
            <a:off x="1123950" y="2181225"/>
            <a:ext cx="533400" cy="533400"/>
          </a:xfrm>
          <a:prstGeom prst="rect">
            <a:avLst/>
          </a:prstGeom>
          <a:solidFill>
            <a:srgbClr val="1F4E79"/>
          </a:solidFill>
          <a:ln w="14288">
            <a:solidFill>
              <a:srgbClr val="1F4E79"/>
            </a:solidFill>
          </a:ln>
        </p:spPr>
        <p:txBody>
          <a:bodyPr wrap="square" lIns="76200" tIns="57150" rIns="76200" bIns="57150" anchor="ctr">
            <a:noAutofit/>
          </a:bodyPr>
          <a:lstStyle/>
          <a:p>
            <a:pPr algn="ctr">
              <a:buNone/>
              <a:defRPr sz="2100" b="1">
                <a:solidFill>
                  <a:srgbClr val="FFFFFF"/>
                </a:solidFill>
                <a:latin typeface="Arial" panose="020B0604020202020204"/>
                <a:ea typeface="Arial" panose="020B0604020202020204"/>
                <a:cs typeface="Arial" panose="020B0604020202020204"/>
              </a:defRPr>
            </a:pPr>
            <a:r>
              <a:rPr sz="2100" b="1">
                <a:solidFill>
                  <a:srgbClr val="FFFFFF"/>
                </a:solidFill>
                <a:latin typeface="Arial" panose="020B0604020202020204"/>
                <a:ea typeface="Arial" panose="020B0604020202020204"/>
                <a:cs typeface="Arial" panose="020B0604020202020204"/>
              </a:rPr>
              <a:t>2</a:t>
            </a:r>
            <a:endParaRPr sz="2100" b="1">
              <a:solidFill>
                <a:srgbClr val="FFFFFF"/>
              </a:solidFill>
              <a:latin typeface="Arial" panose="020B0604020202020204"/>
              <a:ea typeface="Arial" panose="020B0604020202020204"/>
              <a:cs typeface="Arial" panose="020B0604020202020204"/>
            </a:endParaRPr>
          </a:p>
        </p:txBody>
      </p:sp>
      <p:sp>
        <p:nvSpPr>
          <p:cNvPr id="8" name="shape-34"/>
          <p:cNvSpPr>
            <a:spLocks noGrp="1"/>
          </p:cNvSpPr>
          <p:nvPr/>
        </p:nvSpPr>
        <p:spPr>
          <a:xfrm>
            <a:off x="1838325" y="2057400"/>
            <a:ext cx="8334375" cy="361950"/>
          </a:xfrm>
          <a:prstGeom prst="rect">
            <a:avLst/>
          </a:prstGeom>
          <a:noFill/>
          <a:ln w="0">
            <a:noFill/>
          </a:ln>
        </p:spPr>
        <p:txBody>
          <a:bodyPr wrap="square" lIns="76200" tIns="57150" rIns="76200" bIns="57150" anchor="ctr">
            <a:noAutofit/>
          </a:bodyPr>
          <a:lstStyle/>
          <a:p>
            <a:pPr algn="l">
              <a:buNone/>
              <a:defRPr sz="1950" b="1">
                <a:solidFill>
                  <a:srgbClr val="222B33"/>
                </a:solidFill>
                <a:latin typeface="Arial" panose="020B0604020202020204"/>
                <a:ea typeface="Arial" panose="020B0604020202020204"/>
                <a:cs typeface="Arial" panose="020B0604020202020204"/>
              </a:defRPr>
            </a:pPr>
            <a:r>
              <a:rPr sz="1950" b="1">
                <a:solidFill>
                  <a:srgbClr val="222B33"/>
                </a:solidFill>
                <a:latin typeface="Arial" panose="020B0604020202020204"/>
                <a:ea typeface="Arial" panose="020B0604020202020204"/>
                <a:cs typeface="Arial" panose="020B0604020202020204"/>
              </a:rPr>
              <a:t>Warning interpretation</a:t>
            </a:r>
            <a:endParaRPr sz="1950" b="1">
              <a:solidFill>
                <a:srgbClr val="222B33"/>
              </a:solidFill>
              <a:latin typeface="Arial" panose="020B0604020202020204"/>
              <a:ea typeface="Arial" panose="020B0604020202020204"/>
              <a:cs typeface="Arial" panose="020B0604020202020204"/>
            </a:endParaRPr>
          </a:p>
        </p:txBody>
      </p:sp>
      <p:sp>
        <p:nvSpPr>
          <p:cNvPr id="9" name="shape-35"/>
          <p:cNvSpPr>
            <a:spLocks noGrp="1"/>
          </p:cNvSpPr>
          <p:nvPr/>
        </p:nvSpPr>
        <p:spPr>
          <a:xfrm>
            <a:off x="1838325" y="2428875"/>
            <a:ext cx="8334375" cy="409575"/>
          </a:xfrm>
          <a:prstGeom prst="rect">
            <a:avLst/>
          </a:prstGeom>
          <a:noFill/>
          <a:ln w="0">
            <a:noFill/>
          </a:ln>
        </p:spPr>
        <p:txBody>
          <a:bodyPr wrap="square" lIns="76200" tIns="57150" rIns="76200" bIns="57150" anchor="ctr">
            <a:noAutofit/>
          </a:bodyPr>
          <a:lstStyle/>
          <a:p>
            <a:pPr algn="l">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Data fusion, risk grading, warning release</a:t>
            </a:r>
            <a:endParaRPr sz="1800" b="0">
              <a:solidFill>
                <a:srgbClr val="222B33"/>
              </a:solidFill>
              <a:latin typeface="Arial" panose="020B0604020202020204"/>
              <a:ea typeface="Arial" panose="020B0604020202020204"/>
              <a:cs typeface="Arial" panose="020B0604020202020204"/>
            </a:endParaRPr>
          </a:p>
        </p:txBody>
      </p:sp>
      <p:sp>
        <p:nvSpPr>
          <p:cNvPr id="11" name="shape-36"/>
          <p:cNvSpPr>
            <a:spLocks noGrp="1"/>
          </p:cNvSpPr>
          <p:nvPr/>
        </p:nvSpPr>
        <p:spPr>
          <a:xfrm>
            <a:off x="952500" y="2990850"/>
            <a:ext cx="9525000" cy="876300"/>
          </a:xfrm>
          <a:prstGeom prst="rect">
            <a:avLst/>
          </a:prstGeom>
          <a:solidFill>
            <a:srgbClr val="F8FBFD"/>
          </a:solidFill>
          <a:ln w="14288">
            <a:solidFill>
              <a:srgbClr val="1F4E79"/>
            </a:solidFill>
          </a:ln>
        </p:spPr>
        <p:txBody>
          <a:bodyPr wrap="square" lIns="76200" tIns="57150" rIns="76200" bIns="57150" anchor="ctr">
            <a:noAutofit/>
          </a:bodyPr>
          <a:lstStyle/>
          <a:p/>
        </p:txBody>
      </p:sp>
      <p:sp>
        <p:nvSpPr>
          <p:cNvPr id="12" name="shape-37"/>
          <p:cNvSpPr>
            <a:spLocks noGrp="1"/>
          </p:cNvSpPr>
          <p:nvPr/>
        </p:nvSpPr>
        <p:spPr>
          <a:xfrm>
            <a:off x="1123950" y="3152775"/>
            <a:ext cx="533400" cy="533400"/>
          </a:xfrm>
          <a:prstGeom prst="rect">
            <a:avLst/>
          </a:prstGeom>
          <a:solidFill>
            <a:srgbClr val="1F4E79"/>
          </a:solidFill>
          <a:ln w="14288">
            <a:solidFill>
              <a:srgbClr val="1F4E79"/>
            </a:solidFill>
          </a:ln>
        </p:spPr>
        <p:txBody>
          <a:bodyPr wrap="square" lIns="76200" tIns="57150" rIns="76200" bIns="57150" anchor="ctr">
            <a:noAutofit/>
          </a:bodyPr>
          <a:lstStyle/>
          <a:p>
            <a:pPr algn="ctr">
              <a:buNone/>
              <a:defRPr sz="2100" b="1">
                <a:solidFill>
                  <a:srgbClr val="FFFFFF"/>
                </a:solidFill>
                <a:latin typeface="Arial" panose="020B0604020202020204"/>
                <a:ea typeface="Arial" panose="020B0604020202020204"/>
                <a:cs typeface="Arial" panose="020B0604020202020204"/>
              </a:defRPr>
            </a:pPr>
            <a:r>
              <a:rPr sz="2100" b="1">
                <a:solidFill>
                  <a:srgbClr val="FFFFFF"/>
                </a:solidFill>
                <a:latin typeface="Arial" panose="020B0604020202020204"/>
                <a:ea typeface="Arial" panose="020B0604020202020204"/>
                <a:cs typeface="Arial" panose="020B0604020202020204"/>
              </a:rPr>
              <a:t>3</a:t>
            </a:r>
            <a:endParaRPr sz="2100" b="1">
              <a:solidFill>
                <a:srgbClr val="FFFFFF"/>
              </a:solidFill>
              <a:latin typeface="Arial" panose="020B0604020202020204"/>
              <a:ea typeface="Arial" panose="020B0604020202020204"/>
              <a:cs typeface="Arial" panose="020B0604020202020204"/>
            </a:endParaRPr>
          </a:p>
        </p:txBody>
      </p:sp>
      <p:sp>
        <p:nvSpPr>
          <p:cNvPr id="13" name="shape-38"/>
          <p:cNvSpPr>
            <a:spLocks noGrp="1"/>
          </p:cNvSpPr>
          <p:nvPr/>
        </p:nvSpPr>
        <p:spPr>
          <a:xfrm>
            <a:off x="1838325" y="3028950"/>
            <a:ext cx="8334375" cy="361950"/>
          </a:xfrm>
          <a:prstGeom prst="rect">
            <a:avLst/>
          </a:prstGeom>
          <a:noFill/>
          <a:ln w="0">
            <a:noFill/>
          </a:ln>
        </p:spPr>
        <p:txBody>
          <a:bodyPr wrap="square" lIns="76200" tIns="57150" rIns="76200" bIns="57150" anchor="ctr">
            <a:noAutofit/>
          </a:bodyPr>
          <a:lstStyle/>
          <a:p>
            <a:pPr algn="l">
              <a:buNone/>
              <a:defRPr sz="1950" b="1">
                <a:solidFill>
                  <a:srgbClr val="222B33"/>
                </a:solidFill>
                <a:latin typeface="Arial" panose="020B0604020202020204"/>
                <a:ea typeface="Arial" panose="020B0604020202020204"/>
                <a:cs typeface="Arial" panose="020B0604020202020204"/>
              </a:defRPr>
            </a:pPr>
            <a:r>
              <a:rPr sz="1950" b="1">
                <a:solidFill>
                  <a:srgbClr val="222B33"/>
                </a:solidFill>
                <a:latin typeface="Arial" panose="020B0604020202020204"/>
                <a:ea typeface="Arial" panose="020B0604020202020204"/>
                <a:cs typeface="Arial" panose="020B0604020202020204"/>
              </a:rPr>
              <a:t>Task dispatch</a:t>
            </a:r>
            <a:endParaRPr sz="1950" b="1">
              <a:solidFill>
                <a:srgbClr val="222B33"/>
              </a:solidFill>
              <a:latin typeface="Arial" panose="020B0604020202020204"/>
              <a:ea typeface="Arial" panose="020B0604020202020204"/>
              <a:cs typeface="Arial" panose="020B0604020202020204"/>
            </a:endParaRPr>
          </a:p>
        </p:txBody>
      </p:sp>
      <p:sp>
        <p:nvSpPr>
          <p:cNvPr id="14" name="shape-39"/>
          <p:cNvSpPr>
            <a:spLocks noGrp="1"/>
          </p:cNvSpPr>
          <p:nvPr/>
        </p:nvSpPr>
        <p:spPr>
          <a:xfrm>
            <a:off x="1838325" y="3400425"/>
            <a:ext cx="8334375" cy="409575"/>
          </a:xfrm>
          <a:prstGeom prst="rect">
            <a:avLst/>
          </a:prstGeom>
          <a:noFill/>
          <a:ln w="0">
            <a:noFill/>
          </a:ln>
        </p:spPr>
        <p:txBody>
          <a:bodyPr wrap="square" lIns="76200" tIns="57150" rIns="76200" bIns="57150" anchor="ctr">
            <a:noAutofit/>
          </a:bodyPr>
          <a:lstStyle/>
          <a:p>
            <a:pPr algn="l">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Work order, responsible party, deadline</a:t>
            </a:r>
            <a:endParaRPr sz="1800" b="0">
              <a:solidFill>
                <a:srgbClr val="222B33"/>
              </a:solidFill>
              <a:latin typeface="Arial" panose="020B0604020202020204"/>
              <a:ea typeface="Arial" panose="020B0604020202020204"/>
              <a:cs typeface="Arial" panose="020B0604020202020204"/>
            </a:endParaRPr>
          </a:p>
        </p:txBody>
      </p:sp>
      <p:sp>
        <p:nvSpPr>
          <p:cNvPr id="16" name="shape-40"/>
          <p:cNvSpPr>
            <a:spLocks noGrp="1"/>
          </p:cNvSpPr>
          <p:nvPr/>
        </p:nvSpPr>
        <p:spPr>
          <a:xfrm>
            <a:off x="952500" y="3962400"/>
            <a:ext cx="9525000" cy="876300"/>
          </a:xfrm>
          <a:prstGeom prst="rect">
            <a:avLst/>
          </a:prstGeom>
          <a:solidFill>
            <a:srgbClr val="FBEDE8"/>
          </a:solidFill>
          <a:ln w="14288">
            <a:solidFill>
              <a:srgbClr val="1F4E79"/>
            </a:solidFill>
          </a:ln>
        </p:spPr>
        <p:txBody>
          <a:bodyPr wrap="square" lIns="76200" tIns="57150" rIns="76200" bIns="57150" anchor="ctr">
            <a:noAutofit/>
          </a:bodyPr>
          <a:lstStyle/>
          <a:p/>
        </p:txBody>
      </p:sp>
      <p:sp>
        <p:nvSpPr>
          <p:cNvPr id="17" name="shape-41"/>
          <p:cNvSpPr>
            <a:spLocks noGrp="1"/>
          </p:cNvSpPr>
          <p:nvPr/>
        </p:nvSpPr>
        <p:spPr>
          <a:xfrm>
            <a:off x="1123950" y="4124325"/>
            <a:ext cx="533400" cy="533400"/>
          </a:xfrm>
          <a:prstGeom prst="rect">
            <a:avLst/>
          </a:prstGeom>
          <a:solidFill>
            <a:srgbClr val="1F4E79"/>
          </a:solidFill>
          <a:ln w="14288">
            <a:solidFill>
              <a:srgbClr val="1F4E79"/>
            </a:solidFill>
          </a:ln>
        </p:spPr>
        <p:txBody>
          <a:bodyPr wrap="square" lIns="76200" tIns="57150" rIns="76200" bIns="57150" anchor="ctr">
            <a:noAutofit/>
          </a:bodyPr>
          <a:lstStyle/>
          <a:p>
            <a:pPr algn="ctr">
              <a:buNone/>
              <a:defRPr sz="2100" b="1">
                <a:solidFill>
                  <a:srgbClr val="FFFFFF"/>
                </a:solidFill>
                <a:latin typeface="Arial" panose="020B0604020202020204"/>
                <a:ea typeface="Arial" panose="020B0604020202020204"/>
                <a:cs typeface="Arial" panose="020B0604020202020204"/>
              </a:defRPr>
            </a:pPr>
            <a:r>
              <a:rPr sz="2100" b="1">
                <a:solidFill>
                  <a:srgbClr val="FFFFFF"/>
                </a:solidFill>
                <a:latin typeface="Arial" panose="020B0604020202020204"/>
                <a:ea typeface="Arial" panose="020B0604020202020204"/>
                <a:cs typeface="Arial" panose="020B0604020202020204"/>
              </a:rPr>
              <a:t>4</a:t>
            </a:r>
            <a:endParaRPr sz="2100" b="1">
              <a:solidFill>
                <a:srgbClr val="FFFFFF"/>
              </a:solidFill>
              <a:latin typeface="Arial" panose="020B0604020202020204"/>
              <a:ea typeface="Arial" panose="020B0604020202020204"/>
              <a:cs typeface="Arial" panose="020B0604020202020204"/>
            </a:endParaRPr>
          </a:p>
        </p:txBody>
      </p:sp>
      <p:sp>
        <p:nvSpPr>
          <p:cNvPr id="18" name="shape-42"/>
          <p:cNvSpPr>
            <a:spLocks noGrp="1"/>
          </p:cNvSpPr>
          <p:nvPr/>
        </p:nvSpPr>
        <p:spPr>
          <a:xfrm>
            <a:off x="1838325" y="4000500"/>
            <a:ext cx="8334375" cy="361950"/>
          </a:xfrm>
          <a:prstGeom prst="rect">
            <a:avLst/>
          </a:prstGeom>
          <a:noFill/>
          <a:ln w="0">
            <a:noFill/>
          </a:ln>
        </p:spPr>
        <p:txBody>
          <a:bodyPr wrap="square" lIns="76200" tIns="57150" rIns="76200" bIns="57150" anchor="ctr">
            <a:noAutofit/>
          </a:bodyPr>
          <a:lstStyle/>
          <a:p>
            <a:pPr algn="l">
              <a:buNone/>
              <a:defRPr sz="1950" b="1">
                <a:solidFill>
                  <a:srgbClr val="222B33"/>
                </a:solidFill>
                <a:latin typeface="Arial" panose="020B0604020202020204"/>
                <a:ea typeface="Arial" panose="020B0604020202020204"/>
                <a:cs typeface="Arial" panose="020B0604020202020204"/>
              </a:defRPr>
            </a:pPr>
            <a:r>
              <a:rPr sz="1950" b="1">
                <a:solidFill>
                  <a:srgbClr val="222B33"/>
                </a:solidFill>
                <a:latin typeface="Arial" panose="020B0604020202020204"/>
                <a:ea typeface="Arial" panose="020B0604020202020204"/>
                <a:cs typeface="Arial" panose="020B0604020202020204"/>
              </a:rPr>
              <a:t>Response action</a:t>
            </a:r>
            <a:endParaRPr sz="1950" b="1">
              <a:solidFill>
                <a:srgbClr val="222B33"/>
              </a:solidFill>
              <a:latin typeface="Arial" panose="020B0604020202020204"/>
              <a:ea typeface="Arial" panose="020B0604020202020204"/>
              <a:cs typeface="Arial" panose="020B0604020202020204"/>
            </a:endParaRPr>
          </a:p>
        </p:txBody>
      </p:sp>
      <p:sp>
        <p:nvSpPr>
          <p:cNvPr id="19" name="shape-43"/>
          <p:cNvSpPr>
            <a:spLocks noGrp="1"/>
          </p:cNvSpPr>
          <p:nvPr/>
        </p:nvSpPr>
        <p:spPr>
          <a:xfrm>
            <a:off x="1838325" y="4371975"/>
            <a:ext cx="8334375" cy="409575"/>
          </a:xfrm>
          <a:prstGeom prst="rect">
            <a:avLst/>
          </a:prstGeom>
          <a:noFill/>
          <a:ln w="0">
            <a:noFill/>
          </a:ln>
        </p:spPr>
        <p:txBody>
          <a:bodyPr wrap="square" lIns="76200" tIns="57150" rIns="76200" bIns="57150" anchor="ctr">
            <a:noAutofit/>
          </a:bodyPr>
          <a:lstStyle/>
          <a:p>
            <a:pPr algn="l">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Ventilation, power cut-off, evacuation, equipment control</a:t>
            </a:r>
            <a:endParaRPr sz="1800" b="0">
              <a:solidFill>
                <a:srgbClr val="222B33"/>
              </a:solidFill>
              <a:latin typeface="Arial" panose="020B0604020202020204"/>
              <a:ea typeface="Arial" panose="020B0604020202020204"/>
              <a:cs typeface="Arial" panose="020B0604020202020204"/>
            </a:endParaRPr>
          </a:p>
        </p:txBody>
      </p:sp>
      <p:sp>
        <p:nvSpPr>
          <p:cNvPr id="21" name="shape-44"/>
          <p:cNvSpPr>
            <a:spLocks noGrp="1"/>
          </p:cNvSpPr>
          <p:nvPr/>
        </p:nvSpPr>
        <p:spPr>
          <a:xfrm>
            <a:off x="952500" y="4933950"/>
            <a:ext cx="9525000" cy="876300"/>
          </a:xfrm>
          <a:prstGeom prst="rect">
            <a:avLst/>
          </a:prstGeom>
          <a:solidFill>
            <a:srgbClr val="F8FBFD"/>
          </a:solidFill>
          <a:ln w="14288">
            <a:solidFill>
              <a:srgbClr val="1F4E79"/>
            </a:solidFill>
          </a:ln>
        </p:spPr>
        <p:txBody>
          <a:bodyPr wrap="square" lIns="76200" tIns="57150" rIns="76200" bIns="57150" anchor="ctr">
            <a:noAutofit/>
          </a:bodyPr>
          <a:lstStyle/>
          <a:p/>
        </p:txBody>
      </p:sp>
      <p:sp>
        <p:nvSpPr>
          <p:cNvPr id="22" name="shape-45"/>
          <p:cNvSpPr>
            <a:spLocks noGrp="1"/>
          </p:cNvSpPr>
          <p:nvPr/>
        </p:nvSpPr>
        <p:spPr>
          <a:xfrm>
            <a:off x="1123950" y="5095875"/>
            <a:ext cx="533400" cy="533400"/>
          </a:xfrm>
          <a:prstGeom prst="rect">
            <a:avLst/>
          </a:prstGeom>
          <a:solidFill>
            <a:srgbClr val="1F4E79"/>
          </a:solidFill>
          <a:ln w="14288">
            <a:solidFill>
              <a:srgbClr val="1F4E79"/>
            </a:solidFill>
          </a:ln>
        </p:spPr>
        <p:txBody>
          <a:bodyPr wrap="square" lIns="76200" tIns="57150" rIns="76200" bIns="57150" anchor="ctr">
            <a:noAutofit/>
          </a:bodyPr>
          <a:lstStyle/>
          <a:p>
            <a:pPr algn="ctr">
              <a:buNone/>
              <a:defRPr sz="2100" b="1">
                <a:solidFill>
                  <a:srgbClr val="FFFFFF"/>
                </a:solidFill>
                <a:latin typeface="Arial" panose="020B0604020202020204"/>
                <a:ea typeface="Arial" panose="020B0604020202020204"/>
                <a:cs typeface="Arial" panose="020B0604020202020204"/>
              </a:defRPr>
            </a:pPr>
            <a:r>
              <a:rPr sz="2100" b="1">
                <a:solidFill>
                  <a:srgbClr val="FFFFFF"/>
                </a:solidFill>
                <a:latin typeface="Arial" panose="020B0604020202020204"/>
                <a:ea typeface="Arial" panose="020B0604020202020204"/>
                <a:cs typeface="Arial" panose="020B0604020202020204"/>
              </a:rPr>
              <a:t>5</a:t>
            </a:r>
            <a:endParaRPr sz="2100" b="1">
              <a:solidFill>
                <a:srgbClr val="FFFFFF"/>
              </a:solidFill>
              <a:latin typeface="Arial" panose="020B0604020202020204"/>
              <a:ea typeface="Arial" panose="020B0604020202020204"/>
              <a:cs typeface="Arial" panose="020B0604020202020204"/>
            </a:endParaRPr>
          </a:p>
        </p:txBody>
      </p:sp>
      <p:sp>
        <p:nvSpPr>
          <p:cNvPr id="23" name="shape-46"/>
          <p:cNvSpPr>
            <a:spLocks noGrp="1"/>
          </p:cNvSpPr>
          <p:nvPr/>
        </p:nvSpPr>
        <p:spPr>
          <a:xfrm>
            <a:off x="1838325" y="4972050"/>
            <a:ext cx="8334375" cy="361950"/>
          </a:xfrm>
          <a:prstGeom prst="rect">
            <a:avLst/>
          </a:prstGeom>
          <a:noFill/>
          <a:ln w="0">
            <a:noFill/>
          </a:ln>
        </p:spPr>
        <p:txBody>
          <a:bodyPr wrap="square" lIns="76200" tIns="57150" rIns="76200" bIns="57150" anchor="ctr">
            <a:noAutofit/>
          </a:bodyPr>
          <a:lstStyle/>
          <a:p>
            <a:pPr algn="l">
              <a:buNone/>
              <a:defRPr sz="1950" b="1">
                <a:solidFill>
                  <a:srgbClr val="222B33"/>
                </a:solidFill>
                <a:latin typeface="Arial" panose="020B0604020202020204"/>
                <a:ea typeface="Arial" panose="020B0604020202020204"/>
                <a:cs typeface="Arial" panose="020B0604020202020204"/>
              </a:defRPr>
            </a:pPr>
            <a:r>
              <a:rPr sz="1950" b="1">
                <a:solidFill>
                  <a:srgbClr val="222B33"/>
                </a:solidFill>
                <a:latin typeface="Arial" panose="020B0604020202020204"/>
                <a:ea typeface="Arial" panose="020B0604020202020204"/>
                <a:cs typeface="Arial" panose="020B0604020202020204"/>
              </a:rPr>
              <a:t>Verification / closure</a:t>
            </a:r>
            <a:endParaRPr sz="1950" b="1">
              <a:solidFill>
                <a:srgbClr val="222B33"/>
              </a:solidFill>
              <a:latin typeface="Arial" panose="020B0604020202020204"/>
              <a:ea typeface="Arial" panose="020B0604020202020204"/>
              <a:cs typeface="Arial" panose="020B0604020202020204"/>
            </a:endParaRPr>
          </a:p>
        </p:txBody>
      </p:sp>
      <p:sp>
        <p:nvSpPr>
          <p:cNvPr id="24" name="shape-47"/>
          <p:cNvSpPr>
            <a:spLocks noGrp="1"/>
          </p:cNvSpPr>
          <p:nvPr/>
        </p:nvSpPr>
        <p:spPr>
          <a:xfrm>
            <a:off x="1838325" y="5343525"/>
            <a:ext cx="8334375" cy="409575"/>
          </a:xfrm>
          <a:prstGeom prst="rect">
            <a:avLst/>
          </a:prstGeom>
          <a:noFill/>
          <a:ln w="0">
            <a:noFill/>
          </a:ln>
        </p:spPr>
        <p:txBody>
          <a:bodyPr wrap="square" lIns="76200" tIns="57150" rIns="76200" bIns="57150" anchor="ctr">
            <a:noAutofit/>
          </a:bodyPr>
          <a:lstStyle/>
          <a:p>
            <a:pPr algn="l">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Acceptance check, closure record, residual-risk check</a:t>
            </a:r>
            <a:endParaRPr sz="1800" b="0">
              <a:solidFill>
                <a:srgbClr val="222B33"/>
              </a:solidFill>
              <a:latin typeface="Arial" panose="020B0604020202020204"/>
              <a:ea typeface="Arial" panose="020B0604020202020204"/>
              <a:cs typeface="Arial" panose="020B0604020202020204"/>
            </a:endParaRPr>
          </a:p>
        </p:txBody>
      </p:sp>
      <p:sp>
        <p:nvSpPr>
          <p:cNvPr id="26" name="shape-48"/>
          <p:cNvSpPr>
            <a:spLocks noGrp="1"/>
          </p:cNvSpPr>
          <p:nvPr/>
        </p:nvSpPr>
        <p:spPr>
          <a:xfrm>
            <a:off x="952500" y="5905500"/>
            <a:ext cx="9525000" cy="876300"/>
          </a:xfrm>
          <a:prstGeom prst="rect">
            <a:avLst/>
          </a:prstGeom>
          <a:solidFill>
            <a:srgbClr val="F8FBFD"/>
          </a:solidFill>
          <a:ln w="14288">
            <a:solidFill>
              <a:srgbClr val="1F4E79"/>
            </a:solidFill>
          </a:ln>
        </p:spPr>
        <p:txBody>
          <a:bodyPr wrap="square" lIns="76200" tIns="57150" rIns="76200" bIns="57150" anchor="ctr">
            <a:noAutofit/>
          </a:bodyPr>
          <a:lstStyle/>
          <a:p/>
        </p:txBody>
      </p:sp>
      <p:sp>
        <p:nvSpPr>
          <p:cNvPr id="27" name="shape-49"/>
          <p:cNvSpPr>
            <a:spLocks noGrp="1"/>
          </p:cNvSpPr>
          <p:nvPr/>
        </p:nvSpPr>
        <p:spPr>
          <a:xfrm>
            <a:off x="1123950" y="6067425"/>
            <a:ext cx="533400" cy="533400"/>
          </a:xfrm>
          <a:prstGeom prst="rect">
            <a:avLst/>
          </a:prstGeom>
          <a:solidFill>
            <a:srgbClr val="1F4E79"/>
          </a:solidFill>
          <a:ln w="14288">
            <a:solidFill>
              <a:srgbClr val="1F4E79"/>
            </a:solidFill>
          </a:ln>
        </p:spPr>
        <p:txBody>
          <a:bodyPr wrap="square" lIns="76200" tIns="57150" rIns="76200" bIns="57150" anchor="ctr">
            <a:noAutofit/>
          </a:bodyPr>
          <a:lstStyle/>
          <a:p>
            <a:pPr algn="ctr">
              <a:buNone/>
              <a:defRPr sz="2100" b="1">
                <a:solidFill>
                  <a:srgbClr val="FFFFFF"/>
                </a:solidFill>
                <a:latin typeface="Arial" panose="020B0604020202020204"/>
                <a:ea typeface="Arial" panose="020B0604020202020204"/>
                <a:cs typeface="Arial" panose="020B0604020202020204"/>
              </a:defRPr>
            </a:pPr>
            <a:r>
              <a:rPr sz="2100" b="1">
                <a:solidFill>
                  <a:srgbClr val="FFFFFF"/>
                </a:solidFill>
                <a:latin typeface="Arial" panose="020B0604020202020204"/>
                <a:ea typeface="Arial" panose="020B0604020202020204"/>
                <a:cs typeface="Arial" panose="020B0604020202020204"/>
              </a:rPr>
              <a:t>6</a:t>
            </a:r>
            <a:endParaRPr sz="2100" b="1">
              <a:solidFill>
                <a:srgbClr val="FFFFFF"/>
              </a:solidFill>
              <a:latin typeface="Arial" panose="020B0604020202020204"/>
              <a:ea typeface="Arial" panose="020B0604020202020204"/>
              <a:cs typeface="Arial" panose="020B0604020202020204"/>
            </a:endParaRPr>
          </a:p>
        </p:txBody>
      </p:sp>
      <p:sp>
        <p:nvSpPr>
          <p:cNvPr id="28" name="shape-50"/>
          <p:cNvSpPr>
            <a:spLocks noGrp="1"/>
          </p:cNvSpPr>
          <p:nvPr/>
        </p:nvSpPr>
        <p:spPr>
          <a:xfrm>
            <a:off x="1838325" y="5943600"/>
            <a:ext cx="8334375" cy="361950"/>
          </a:xfrm>
          <a:prstGeom prst="rect">
            <a:avLst/>
          </a:prstGeom>
          <a:noFill/>
          <a:ln w="0">
            <a:noFill/>
          </a:ln>
        </p:spPr>
        <p:txBody>
          <a:bodyPr wrap="square" lIns="76200" tIns="57150" rIns="76200" bIns="57150" anchor="ctr">
            <a:noAutofit/>
          </a:bodyPr>
          <a:lstStyle/>
          <a:p>
            <a:pPr algn="l">
              <a:buNone/>
              <a:defRPr sz="1950" b="1">
                <a:solidFill>
                  <a:srgbClr val="222B33"/>
                </a:solidFill>
                <a:latin typeface="Arial" panose="020B0604020202020204"/>
                <a:ea typeface="Arial" panose="020B0604020202020204"/>
                <a:cs typeface="Arial" panose="020B0604020202020204"/>
              </a:defRPr>
            </a:pPr>
            <a:r>
              <a:rPr sz="1950" b="1">
                <a:solidFill>
                  <a:srgbClr val="222B33"/>
                </a:solidFill>
                <a:latin typeface="Arial" panose="020B0604020202020204"/>
                <a:ea typeface="Arial" panose="020B0604020202020204"/>
                <a:cs typeface="Arial" panose="020B0604020202020204"/>
              </a:rPr>
              <a:t>Feedback update</a:t>
            </a:r>
            <a:endParaRPr sz="1950" b="1">
              <a:solidFill>
                <a:srgbClr val="222B33"/>
              </a:solidFill>
              <a:latin typeface="Arial" panose="020B0604020202020204"/>
              <a:ea typeface="Arial" panose="020B0604020202020204"/>
              <a:cs typeface="Arial" panose="020B0604020202020204"/>
            </a:endParaRPr>
          </a:p>
        </p:txBody>
      </p:sp>
      <p:sp>
        <p:nvSpPr>
          <p:cNvPr id="29" name="shape-51"/>
          <p:cNvSpPr>
            <a:spLocks noGrp="1"/>
          </p:cNvSpPr>
          <p:nvPr/>
        </p:nvSpPr>
        <p:spPr>
          <a:xfrm>
            <a:off x="1838325" y="6315075"/>
            <a:ext cx="8334375" cy="409575"/>
          </a:xfrm>
          <a:prstGeom prst="rect">
            <a:avLst/>
          </a:prstGeom>
          <a:noFill/>
          <a:ln w="0">
            <a:noFill/>
          </a:ln>
        </p:spPr>
        <p:txBody>
          <a:bodyPr wrap="square" lIns="76200" tIns="57150" rIns="76200" bIns="57150" anchor="ctr">
            <a:noAutofit/>
          </a:bodyPr>
          <a:lstStyle/>
          <a:p>
            <a:pPr algn="l">
              <a:buNone/>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Rule revision, model/workflow update</a:t>
            </a:r>
            <a:endParaRPr sz="1800" b="0">
              <a:solidFill>
                <a:srgbClr val="222B33"/>
              </a:solidFill>
              <a:latin typeface="Arial" panose="020B0604020202020204"/>
              <a:ea typeface="Arial" panose="020B0604020202020204"/>
              <a:cs typeface="Arial" panose="020B0604020202020204"/>
            </a:endParaRPr>
          </a:p>
        </p:txBody>
      </p:sp>
      <p:cxnSp>
        <p:nvCxnSpPr>
          <p:cNvPr id="78" name="直接箭头连接符 77"/>
          <p:cNvCxnSpPr>
            <a:stCxn id="2" idx="2"/>
            <a:endCxn id="6" idx="0"/>
          </p:cNvCxnSpPr>
          <p:nvPr/>
        </p:nvCxnSpPr>
        <p:spPr>
          <a:xfrm>
            <a:off x="5715000" y="1924050"/>
            <a:ext cx="0" cy="95250"/>
          </a:xfrm>
          <a:prstGeom prst="straightConnector1">
            <a:avLst/>
          </a:prstGeom>
          <a:ln w="20955">
            <a:solidFill>
              <a:srgbClr val="1F4E79"/>
            </a:solidFill>
            <a:prstDash val="solid"/>
            <a:tailEnd type="triangle" w="sm" len="sm"/>
          </a:ln>
        </p:spPr>
      </p:cxnSp>
      <p:cxnSp>
        <p:nvCxnSpPr>
          <p:cNvPr id="79" name="直接箭头连接符 78"/>
          <p:cNvCxnSpPr>
            <a:stCxn id="6" idx="2"/>
            <a:endCxn id="11" idx="0"/>
          </p:cNvCxnSpPr>
          <p:nvPr/>
        </p:nvCxnSpPr>
        <p:spPr>
          <a:xfrm>
            <a:off x="5715000" y="2895600"/>
            <a:ext cx="0" cy="95250"/>
          </a:xfrm>
          <a:prstGeom prst="straightConnector1">
            <a:avLst/>
          </a:prstGeom>
          <a:ln w="20955">
            <a:solidFill>
              <a:srgbClr val="1F4E79"/>
            </a:solidFill>
            <a:prstDash val="solid"/>
            <a:tailEnd type="triangle" w="sm" len="sm"/>
          </a:ln>
        </p:spPr>
      </p:cxnSp>
      <p:cxnSp>
        <p:nvCxnSpPr>
          <p:cNvPr id="80" name="直接箭头连接符 79"/>
          <p:cNvCxnSpPr>
            <a:stCxn id="11" idx="2"/>
            <a:endCxn id="16" idx="0"/>
          </p:cNvCxnSpPr>
          <p:nvPr/>
        </p:nvCxnSpPr>
        <p:spPr>
          <a:xfrm>
            <a:off x="5715000" y="3867150"/>
            <a:ext cx="0" cy="95250"/>
          </a:xfrm>
          <a:prstGeom prst="straightConnector1">
            <a:avLst/>
          </a:prstGeom>
          <a:ln w="20955">
            <a:solidFill>
              <a:srgbClr val="1F4E79"/>
            </a:solidFill>
            <a:prstDash val="solid"/>
            <a:tailEnd type="triangle" w="sm" len="sm"/>
          </a:ln>
        </p:spPr>
      </p:cxnSp>
      <p:cxnSp>
        <p:nvCxnSpPr>
          <p:cNvPr id="81" name="直接箭头连接符 80"/>
          <p:cNvCxnSpPr>
            <a:stCxn id="16" idx="2"/>
            <a:endCxn id="21" idx="0"/>
          </p:cNvCxnSpPr>
          <p:nvPr/>
        </p:nvCxnSpPr>
        <p:spPr>
          <a:xfrm>
            <a:off x="5715000" y="4838700"/>
            <a:ext cx="0" cy="95250"/>
          </a:xfrm>
          <a:prstGeom prst="straightConnector1">
            <a:avLst/>
          </a:prstGeom>
          <a:ln w="20955">
            <a:solidFill>
              <a:srgbClr val="1F4E79"/>
            </a:solidFill>
            <a:prstDash val="solid"/>
            <a:tailEnd type="triangle" w="sm" len="sm"/>
          </a:ln>
        </p:spPr>
      </p:cxnSp>
      <p:cxnSp>
        <p:nvCxnSpPr>
          <p:cNvPr id="82" name="直接箭头连接符 81"/>
          <p:cNvCxnSpPr>
            <a:stCxn id="21" idx="2"/>
            <a:endCxn id="26" idx="0"/>
          </p:cNvCxnSpPr>
          <p:nvPr/>
        </p:nvCxnSpPr>
        <p:spPr>
          <a:xfrm>
            <a:off x="5715000" y="5810250"/>
            <a:ext cx="0" cy="95250"/>
          </a:xfrm>
          <a:prstGeom prst="straightConnector1">
            <a:avLst/>
          </a:prstGeom>
          <a:ln w="20955">
            <a:solidFill>
              <a:srgbClr val="1F4E79"/>
            </a:solidFill>
            <a:prstDash val="solid"/>
            <a:tailEnd type="triangle" w="sm" len="sm"/>
          </a:ln>
        </p:spPr>
      </p:cxnSp>
      <p:sp>
        <p:nvSpPr>
          <p:cNvPr id="39" name="submission-2"/>
          <p:cNvSpPr>
            <a:spLocks noGrp="1"/>
          </p:cNvSpPr>
          <p:nvPr/>
        </p:nvSpPr>
        <p:spPr>
          <a:xfrm>
            <a:off x="3429000" y="6972300"/>
            <a:ext cx="4572000" cy="361950"/>
          </a:xfrm>
          <a:prstGeom prst="rect">
            <a:avLst/>
          </a:prstGeom>
          <a:solidFill>
            <a:srgbClr val="F8FBFD"/>
          </a:solidFill>
          <a:ln w="14288">
            <a:solidFill>
              <a:srgbClr val="1F4E79"/>
            </a:solidFill>
          </a:ln>
        </p:spPr>
        <p:txBody>
          <a:bodyPr wrap="square" lIns="57150" tIns="28575" rIns="57150" bIns="28575" anchor="ctr">
            <a:noAutofit/>
          </a:bodyPr>
          <a:lstStyle/>
          <a:p>
            <a:pPr algn="ctr">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Independent coding</a:t>
            </a:r>
            <a:endParaRPr sz="1725" b="0">
              <a:solidFill>
                <a:srgbClr val="222B33"/>
              </a:solidFill>
              <a:latin typeface="Arial" panose="020B0604020202020204"/>
              <a:ea typeface="Arial" panose="020B0604020202020204"/>
              <a:cs typeface="Arial" panose="020B0604020202020204"/>
            </a:endParaRPr>
          </a:p>
        </p:txBody>
      </p:sp>
      <p:sp>
        <p:nvSpPr>
          <p:cNvPr id="40" name="submission-3"/>
          <p:cNvSpPr>
            <a:spLocks noGrp="1"/>
          </p:cNvSpPr>
          <p:nvPr/>
        </p:nvSpPr>
        <p:spPr>
          <a:xfrm>
            <a:off x="3429000" y="7505700"/>
            <a:ext cx="4572000" cy="361950"/>
          </a:xfrm>
          <a:prstGeom prst="rect">
            <a:avLst/>
          </a:prstGeom>
          <a:solidFill>
            <a:srgbClr val="F8FBFD"/>
          </a:solidFill>
          <a:ln w="14288">
            <a:solidFill>
              <a:srgbClr val="1F4E79"/>
            </a:solidFill>
          </a:ln>
        </p:spPr>
        <p:txBody>
          <a:bodyPr wrap="square" lIns="57150" tIns="28575" rIns="57150" bIns="28575" anchor="ctr">
            <a:noAutofit/>
          </a:bodyPr>
          <a:lstStyle/>
          <a:p>
            <a:pPr algn="ctr">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Cohen’s κ</a:t>
            </a:r>
            <a:r>
              <a:rPr lang="en-US" sz="1725" b="0">
                <a:solidFill>
                  <a:srgbClr val="222B33"/>
                </a:solidFill>
                <a:latin typeface="Arial" panose="020B0604020202020204"/>
                <a:ea typeface="Arial" panose="020B0604020202020204"/>
                <a:cs typeface="Arial" panose="020B0604020202020204"/>
              </a:rPr>
              <a:t>appa</a:t>
            </a:r>
            <a:r>
              <a:rPr sz="1725" b="0">
                <a:solidFill>
                  <a:srgbClr val="222B33"/>
                </a:solidFill>
                <a:latin typeface="Arial" panose="020B0604020202020204"/>
                <a:ea typeface="Arial" panose="020B0604020202020204"/>
                <a:cs typeface="Arial" panose="020B0604020202020204"/>
              </a:rPr>
              <a:t> assessment</a:t>
            </a:r>
            <a:endParaRPr sz="1725" b="0">
              <a:solidFill>
                <a:srgbClr val="222B33"/>
              </a:solidFill>
              <a:latin typeface="Arial" panose="020B0604020202020204"/>
              <a:ea typeface="Arial" panose="020B0604020202020204"/>
              <a:cs typeface="Arial" panose="020B0604020202020204"/>
            </a:endParaRPr>
          </a:p>
        </p:txBody>
      </p:sp>
      <p:sp>
        <p:nvSpPr>
          <p:cNvPr id="41" name="submission-4"/>
          <p:cNvSpPr>
            <a:spLocks noGrp="1"/>
          </p:cNvSpPr>
          <p:nvPr/>
        </p:nvSpPr>
        <p:spPr>
          <a:xfrm>
            <a:off x="3429000" y="8039100"/>
            <a:ext cx="4572000" cy="361950"/>
          </a:xfrm>
          <a:prstGeom prst="rect">
            <a:avLst/>
          </a:prstGeom>
          <a:solidFill>
            <a:srgbClr val="F8FBFD"/>
          </a:solidFill>
          <a:ln w="14288">
            <a:solidFill>
              <a:srgbClr val="1F4E79"/>
            </a:solidFill>
          </a:ln>
        </p:spPr>
        <p:txBody>
          <a:bodyPr wrap="square" lIns="57150" tIns="28575" rIns="57150" bIns="28575" anchor="ctr">
            <a:noAutofit/>
          </a:bodyPr>
          <a:lstStyle/>
          <a:p>
            <a:pPr algn="ctr">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Consensus resolution</a:t>
            </a:r>
            <a:endParaRPr sz="1725" b="0">
              <a:solidFill>
                <a:srgbClr val="222B33"/>
              </a:solidFill>
              <a:latin typeface="Arial" panose="020B0604020202020204"/>
              <a:ea typeface="Arial" panose="020B0604020202020204"/>
              <a:cs typeface="Arial" panose="020B0604020202020204"/>
            </a:endParaRPr>
          </a:p>
        </p:txBody>
      </p:sp>
      <p:sp>
        <p:nvSpPr>
          <p:cNvPr id="42" name="submission-5"/>
          <p:cNvSpPr>
            <a:spLocks noGrp="1"/>
          </p:cNvSpPr>
          <p:nvPr/>
        </p:nvSpPr>
        <p:spPr>
          <a:xfrm>
            <a:off x="3429000" y="8572500"/>
            <a:ext cx="4572000" cy="361950"/>
          </a:xfrm>
          <a:prstGeom prst="rect">
            <a:avLst/>
          </a:prstGeom>
          <a:solidFill>
            <a:srgbClr val="F8FBFD"/>
          </a:solidFill>
          <a:ln w="14288">
            <a:solidFill>
              <a:srgbClr val="1F4E79"/>
            </a:solidFill>
          </a:ln>
        </p:spPr>
        <p:txBody>
          <a:bodyPr wrap="square" lIns="57150" tIns="28575" rIns="57150" bIns="28575" anchor="ctr">
            <a:noAutofit/>
          </a:bodyPr>
          <a:lstStyle/>
          <a:p>
            <a:pPr algn="ctr">
              <a:defRPr sz="1725" b="0">
                <a:solidFill>
                  <a:srgbClr val="222B33"/>
                </a:solidFill>
                <a:latin typeface="Arial" panose="020B0604020202020204"/>
                <a:ea typeface="Arial" panose="020B0604020202020204"/>
                <a:cs typeface="Arial" panose="020B0604020202020204"/>
              </a:defRPr>
            </a:pPr>
            <a:r>
              <a:rPr sz="1725" b="0">
                <a:solidFill>
                  <a:srgbClr val="222B33"/>
                </a:solidFill>
                <a:latin typeface="Arial" panose="020B0604020202020204"/>
                <a:ea typeface="Arial" panose="020B0604020202020204"/>
                <a:cs typeface="Arial" panose="020B0604020202020204"/>
              </a:rPr>
              <a:t>Final consensus coding</a:t>
            </a:r>
            <a:endParaRPr sz="1725" b="0">
              <a:solidFill>
                <a:srgbClr val="222B33"/>
              </a:solidFill>
              <a:latin typeface="Arial" panose="020B0604020202020204"/>
              <a:ea typeface="Arial" panose="020B0604020202020204"/>
              <a:cs typeface="Arial" panose="020B0604020202020204"/>
            </a:endParaRPr>
          </a:p>
        </p:txBody>
      </p:sp>
      <p:sp>
        <p:nvSpPr>
          <p:cNvPr id="43" name="submission-6"/>
          <p:cNvSpPr>
            <a:spLocks noGrp="1"/>
          </p:cNvSpPr>
          <p:nvPr/>
        </p:nvSpPr>
        <p:spPr>
          <a:xfrm>
            <a:off x="2476500" y="9105900"/>
            <a:ext cx="6477000" cy="342900"/>
          </a:xfrm>
          <a:prstGeom prst="rect">
            <a:avLst/>
          </a:prstGeom>
          <a:noFill/>
          <a:ln w="0">
            <a:noFill/>
          </a:ln>
        </p:spPr>
        <p:txBody>
          <a:bodyPr wrap="square" lIns="57150" tIns="28575" rIns="57150" bIns="28575" anchor="ctr">
            <a:noAutofit/>
          </a:bodyPr>
          <a:lstStyle/>
          <a:p>
            <a:pPr algn="ctr">
              <a:defRPr sz="1875" b="1">
                <a:solidFill>
                  <a:srgbClr val="1F4E79"/>
                </a:solidFill>
                <a:latin typeface="Arial" panose="020B0604020202020204"/>
                <a:ea typeface="Arial" panose="020B0604020202020204"/>
                <a:cs typeface="Arial" panose="020B0604020202020204"/>
              </a:defRPr>
            </a:pPr>
            <a:r>
              <a:rPr sz="1875" b="1">
                <a:solidFill>
                  <a:srgbClr val="1F4E79"/>
                </a:solidFill>
                <a:latin typeface="Arial" panose="020B0604020202020204"/>
                <a:ea typeface="Arial" panose="020B0604020202020204"/>
                <a:cs typeface="Arial" panose="020B0604020202020204"/>
              </a:rPr>
              <a:t>Consensus evidence classification</a:t>
            </a:r>
            <a:endParaRPr sz="1875" b="1">
              <a:solidFill>
                <a:srgbClr val="1F4E79"/>
              </a:solidFill>
              <a:latin typeface="Arial" panose="020B0604020202020204"/>
              <a:ea typeface="Arial" panose="020B0604020202020204"/>
              <a:cs typeface="Arial" panose="020B0604020202020204"/>
            </a:endParaRPr>
          </a:p>
        </p:txBody>
      </p:sp>
      <p:cxnSp>
        <p:nvCxnSpPr>
          <p:cNvPr id="88" name="直接箭头连接符 87"/>
          <p:cNvCxnSpPr>
            <a:stCxn id="39" idx="2"/>
            <a:endCxn id="40" idx="0"/>
          </p:cNvCxnSpPr>
          <p:nvPr/>
        </p:nvCxnSpPr>
        <p:spPr>
          <a:xfrm>
            <a:off x="5715000" y="7334250"/>
            <a:ext cx="0" cy="171450"/>
          </a:xfrm>
          <a:prstGeom prst="straightConnector1">
            <a:avLst/>
          </a:prstGeom>
          <a:ln w="20955">
            <a:solidFill>
              <a:srgbClr val="1F4E79"/>
            </a:solidFill>
            <a:prstDash val="solid"/>
            <a:tailEnd type="triangle" w="sm" len="sm"/>
          </a:ln>
        </p:spPr>
      </p:cxnSp>
      <p:cxnSp>
        <p:nvCxnSpPr>
          <p:cNvPr id="89" name="直接箭头连接符 88"/>
          <p:cNvCxnSpPr>
            <a:stCxn id="40" idx="2"/>
            <a:endCxn id="41" idx="0"/>
          </p:cNvCxnSpPr>
          <p:nvPr/>
        </p:nvCxnSpPr>
        <p:spPr>
          <a:xfrm>
            <a:off x="5715000" y="7867650"/>
            <a:ext cx="0" cy="171450"/>
          </a:xfrm>
          <a:prstGeom prst="straightConnector1">
            <a:avLst/>
          </a:prstGeom>
          <a:ln w="20955">
            <a:solidFill>
              <a:srgbClr val="1F4E79"/>
            </a:solidFill>
            <a:prstDash val="solid"/>
            <a:tailEnd type="triangle" w="sm" len="sm"/>
          </a:ln>
        </p:spPr>
      </p:cxnSp>
      <p:cxnSp>
        <p:nvCxnSpPr>
          <p:cNvPr id="90" name="直接箭头连接符 89"/>
          <p:cNvCxnSpPr>
            <a:stCxn id="41" idx="2"/>
            <a:endCxn id="42" idx="0"/>
          </p:cNvCxnSpPr>
          <p:nvPr/>
        </p:nvCxnSpPr>
        <p:spPr>
          <a:xfrm>
            <a:off x="5715000" y="8401050"/>
            <a:ext cx="0" cy="171450"/>
          </a:xfrm>
          <a:prstGeom prst="straightConnector1">
            <a:avLst/>
          </a:prstGeom>
          <a:ln w="20955">
            <a:solidFill>
              <a:srgbClr val="1F4E79"/>
            </a:solidFill>
            <a:prstDash val="solid"/>
            <a:tailEnd type="triangle" w="sm" len="sm"/>
          </a:ln>
        </p:spPr>
      </p:cxnSp>
      <p:cxnSp>
        <p:nvCxnSpPr>
          <p:cNvPr id="91" name="直接箭头连接符 90"/>
          <p:cNvCxnSpPr>
            <a:stCxn id="42" idx="2"/>
            <a:endCxn id="43" idx="0"/>
          </p:cNvCxnSpPr>
          <p:nvPr/>
        </p:nvCxnSpPr>
        <p:spPr>
          <a:xfrm>
            <a:off x="5715000" y="8934450"/>
            <a:ext cx="0" cy="171450"/>
          </a:xfrm>
          <a:prstGeom prst="straightConnector1">
            <a:avLst/>
          </a:prstGeom>
          <a:ln w="20955">
            <a:solidFill>
              <a:srgbClr val="1F4E79"/>
            </a:solidFill>
            <a:prstDash val="solid"/>
            <a:tailEnd type="triangle" w="sm" len="sm"/>
          </a:ln>
        </p:spPr>
      </p:cxnSp>
      <p:sp>
        <p:nvSpPr>
          <p:cNvPr id="48" name="submission-7"/>
          <p:cNvSpPr>
            <a:spLocks noGrp="1"/>
          </p:cNvSpPr>
          <p:nvPr/>
        </p:nvSpPr>
        <p:spPr>
          <a:xfrm>
            <a:off x="952500" y="9601200"/>
            <a:ext cx="2857500" cy="400050"/>
          </a:xfrm>
          <a:prstGeom prst="rect">
            <a:avLst/>
          </a:prstGeom>
          <a:solidFill>
            <a:srgbClr val="F8FBFD"/>
          </a:solidFill>
          <a:ln w="14288">
            <a:solidFill>
              <a:srgbClr val="1F4E79"/>
            </a:solidFill>
          </a:ln>
        </p:spPr>
        <p:txBody>
          <a:bodyPr wrap="square" lIns="57150" tIns="28575" rIns="57150" bIns="28575" anchor="ctr">
            <a:noAutofit/>
          </a:bodyPr>
          <a:lstStyle/>
          <a:p>
            <a:pPr algn="ctr">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Clear support</a:t>
            </a:r>
            <a:endParaRPr sz="1800" b="0">
              <a:solidFill>
                <a:srgbClr val="222B33"/>
              </a:solidFill>
              <a:latin typeface="Arial" panose="020B0604020202020204"/>
              <a:ea typeface="Arial" panose="020B0604020202020204"/>
              <a:cs typeface="Arial" panose="020B0604020202020204"/>
            </a:endParaRPr>
          </a:p>
        </p:txBody>
      </p:sp>
      <p:sp>
        <p:nvSpPr>
          <p:cNvPr id="49" name="submission-8"/>
          <p:cNvSpPr>
            <a:spLocks noGrp="1"/>
          </p:cNvSpPr>
          <p:nvPr/>
        </p:nvSpPr>
        <p:spPr>
          <a:xfrm>
            <a:off x="4286250" y="9601200"/>
            <a:ext cx="2857500" cy="400050"/>
          </a:xfrm>
          <a:prstGeom prst="rect">
            <a:avLst/>
          </a:prstGeom>
          <a:solidFill>
            <a:srgbClr val="F8FBFD"/>
          </a:solidFill>
          <a:ln w="14288">
            <a:solidFill>
              <a:srgbClr val="1F4E79"/>
            </a:solidFill>
          </a:ln>
        </p:spPr>
        <p:txBody>
          <a:bodyPr wrap="square" lIns="57150" tIns="28575" rIns="57150" bIns="28575" anchor="ctr">
            <a:noAutofit/>
          </a:bodyPr>
          <a:lstStyle/>
          <a:p>
            <a:pPr algn="ctr">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Partial support</a:t>
            </a:r>
            <a:endParaRPr sz="1800" b="0">
              <a:solidFill>
                <a:srgbClr val="222B33"/>
              </a:solidFill>
              <a:latin typeface="Arial" panose="020B0604020202020204"/>
              <a:ea typeface="Arial" panose="020B0604020202020204"/>
              <a:cs typeface="Arial" panose="020B0604020202020204"/>
            </a:endParaRPr>
          </a:p>
        </p:txBody>
      </p:sp>
      <p:sp>
        <p:nvSpPr>
          <p:cNvPr id="50" name="submission-9"/>
          <p:cNvSpPr>
            <a:spLocks noGrp="1"/>
          </p:cNvSpPr>
          <p:nvPr/>
        </p:nvSpPr>
        <p:spPr>
          <a:xfrm>
            <a:off x="7620000" y="9601200"/>
            <a:ext cx="2857500" cy="400050"/>
          </a:xfrm>
          <a:prstGeom prst="rect">
            <a:avLst/>
          </a:prstGeom>
          <a:solidFill>
            <a:srgbClr val="F8FBFD"/>
          </a:solidFill>
          <a:ln w="14288">
            <a:solidFill>
              <a:srgbClr val="1F4E79"/>
            </a:solidFill>
          </a:ln>
        </p:spPr>
        <p:txBody>
          <a:bodyPr wrap="square" lIns="57150" tIns="28575" rIns="57150" bIns="28575" anchor="ctr">
            <a:noAutofit/>
          </a:bodyPr>
          <a:lstStyle/>
          <a:p>
            <a:pPr algn="ctr">
              <a:defRPr sz="1800" b="0">
                <a:solidFill>
                  <a:srgbClr val="222B33"/>
                </a:solidFill>
                <a:latin typeface="Arial" panose="020B0604020202020204"/>
                <a:ea typeface="Arial" panose="020B0604020202020204"/>
                <a:cs typeface="Arial" panose="020B0604020202020204"/>
              </a:defRPr>
            </a:pPr>
            <a:r>
              <a:rPr sz="1800" b="0">
                <a:solidFill>
                  <a:srgbClr val="222B33"/>
                </a:solidFill>
                <a:latin typeface="Arial" panose="020B0604020202020204"/>
                <a:ea typeface="Arial" panose="020B0604020202020204"/>
                <a:cs typeface="Arial" panose="020B0604020202020204"/>
              </a:rPr>
              <a:t>Not identifiable</a:t>
            </a:r>
            <a:endParaRPr sz="1800" b="0">
              <a:solidFill>
                <a:srgbClr val="222B33"/>
              </a:solidFill>
              <a:latin typeface="Arial" panose="020B0604020202020204"/>
              <a:ea typeface="Arial" panose="020B0604020202020204"/>
              <a:cs typeface="Arial" panose="020B0604020202020204"/>
            </a:endParaRPr>
          </a:p>
        </p:txBody>
      </p:sp>
      <p:sp>
        <p:nvSpPr>
          <p:cNvPr id="51" name="submission-10"/>
          <p:cNvSpPr>
            <a:spLocks noGrp="1"/>
          </p:cNvSpPr>
          <p:nvPr/>
        </p:nvSpPr>
        <p:spPr>
          <a:xfrm>
            <a:off x="952500" y="10106025"/>
            <a:ext cx="9525000" cy="257175"/>
          </a:xfrm>
          <a:prstGeom prst="rect">
            <a:avLst/>
          </a:prstGeom>
          <a:noFill/>
          <a:ln w="0">
            <a:noFill/>
          </a:ln>
        </p:spPr>
        <p:txBody>
          <a:bodyPr wrap="square" lIns="57150" tIns="28575" rIns="57150" bIns="28575" anchor="ctr">
            <a:noAutofit/>
          </a:bodyPr>
          <a:lstStyle/>
          <a:p>
            <a:pPr algn="ctr">
              <a:defRPr sz="1725" b="0">
                <a:solidFill>
                  <a:srgbClr val="1F4E79"/>
                </a:solidFill>
                <a:latin typeface="Arial" panose="020B0604020202020204"/>
                <a:ea typeface="Arial" panose="020B0604020202020204"/>
                <a:cs typeface="Arial" panose="020B0604020202020204"/>
              </a:defRPr>
            </a:pPr>
            <a:r>
              <a:rPr sz="1725" b="0">
                <a:solidFill>
                  <a:srgbClr val="1F4E79"/>
                </a:solidFill>
                <a:latin typeface="Arial" panose="020B0604020202020204"/>
                <a:ea typeface="Arial" panose="020B0604020202020204"/>
                <a:cs typeface="Arial" panose="020B0604020202020204"/>
              </a:rPr>
              <a:t>Final consensus codes reported in S1 Table</a:t>
            </a:r>
            <a:endParaRPr sz="1725" b="0">
              <a:solidFill>
                <a:srgbClr val="1F4E79"/>
              </a:solidFill>
              <a:latin typeface="Arial" panose="020B0604020202020204"/>
              <a:ea typeface="Arial" panose="020B0604020202020204"/>
              <a:cs typeface="Arial" panose="020B0604020202020204"/>
            </a:endParaRPr>
          </a:p>
        </p:txBody>
      </p:sp>
      <p:sp>
        <p:nvSpPr>
          <p:cNvPr id="52" name="submission-11"/>
          <p:cNvSpPr>
            <a:spLocks noGrp="1"/>
          </p:cNvSpPr>
          <p:nvPr/>
        </p:nvSpPr>
        <p:spPr>
          <a:xfrm>
            <a:off x="952500" y="10382250"/>
            <a:ext cx="9525000" cy="228600"/>
          </a:xfrm>
          <a:prstGeom prst="rect">
            <a:avLst/>
          </a:prstGeom>
          <a:noFill/>
          <a:ln w="0">
            <a:noFill/>
          </a:ln>
        </p:spPr>
        <p:txBody>
          <a:bodyPr wrap="square" lIns="57150" tIns="28575" rIns="57150" bIns="28575" anchor="ctr">
            <a:noAutofit/>
          </a:bodyPr>
          <a:lstStyle/>
          <a:p>
            <a:pPr algn="ctr">
              <a:defRPr sz="1425" b="0">
                <a:solidFill>
                  <a:srgbClr val="555D65"/>
                </a:solidFill>
                <a:latin typeface="Arial" panose="020B0604020202020204"/>
                <a:ea typeface="Arial" panose="020B0604020202020204"/>
                <a:cs typeface="Arial" panose="020B0604020202020204"/>
              </a:defRPr>
            </a:pPr>
            <a:r>
              <a:rPr sz="1425" b="0">
                <a:solidFill>
                  <a:srgbClr val="555D65"/>
                </a:solidFill>
                <a:latin typeface="Arial" panose="020B0604020202020204"/>
                <a:ea typeface="Arial" panose="020B0604020202020204"/>
                <a:cs typeface="Arial" panose="020B0604020202020204"/>
              </a:rPr>
              <a:t>(no composite response-chain score calculated)</a:t>
            </a:r>
            <a:endParaRPr sz="1425" b="0">
              <a:solidFill>
                <a:srgbClr val="555D65"/>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1439</Words>
  <Application>WPS 演示</Application>
  <PresentationFormat>Converted Presentation</PresentationFormat>
  <Paragraphs>122</Paragraphs>
  <Slides>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Arial</vt:lpstr>
      <vt:lpstr>微软雅黑</vt:lpstr>
      <vt:lpstr>Arial Unicode MS</vt:lpstr>
      <vt:lpstr>Calibri</vt:lpstr>
      <vt:lpstr>ChatGPT</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mly</cp:lastModifiedBy>
  <cp:revision>1</cp:revision>
  <dcterms:created xsi:type="dcterms:W3CDTF">2026-09-18T14:11:50Z</dcterms:created>
  <dcterms:modified xsi:type="dcterms:W3CDTF">2026-09-18T14:11:50Z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3F12BDA854564E209F72CDE95AB8D5B1_12</vt:lpwstr>
  </property>
  <property fmtid="{D5CDD505-2E9C-101B-9397-08002B2CF9AE}" pid="3" name="KSOProductBuildVer">
    <vt:lpwstr>2052-12.1.0.28505</vt:lpwstr>
  </property>
</Properties>
</file>