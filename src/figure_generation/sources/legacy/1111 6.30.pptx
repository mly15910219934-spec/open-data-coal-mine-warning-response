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"/>
  </p:handoutMasterIdLst>
  <p:sldIdLst>
    <p:sldId id="256" r:id="rId3"/>
    <p:sldId id="257" r:id="rId5"/>
    <p:sldId id="258" r:id="rId6"/>
  </p:sldIdLst>
  <p:sldSz cx="13716000" cy="10799445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1" userDrawn="1">
          <p15:clr>
            <a:srgbClr val="A4A3A4"/>
          </p15:clr>
        </p15:guide>
        <p15:guide id="2" pos="43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DE8"/>
    <a:srgbClr val="F6F8FA"/>
    <a:srgbClr val="4E7D55"/>
    <a:srgbClr val="EEF6EE"/>
    <a:srgbClr val="0C445E"/>
    <a:srgbClr val="497387"/>
    <a:srgbClr val="313A42"/>
    <a:srgbClr val="B65B32"/>
    <a:srgbClr val="1F4E79"/>
    <a:srgbClr val="EAF2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95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57175" indent="-257175" algn="l">
        <a:lnSpc>
          <a:spcPct val="90000"/>
        </a:lnSpc>
        <a:spcBef>
          <a:spcPts val="1125"/>
        </a:spcBef>
        <a:buChar char="•"/>
        <a:defRPr sz="3150">
          <a:solidFill>
            <a:schemeClr val="tx1"/>
          </a:solidFill>
          <a:latin typeface="+mn-lt"/>
          <a:ea typeface="+mn-lt"/>
          <a:cs typeface="+mn-lt"/>
        </a:defRPr>
      </a:lvl1pPr>
      <a:lvl2pPr marL="771525" indent="-257175" algn="l">
        <a:lnSpc>
          <a:spcPct val="90000"/>
        </a:lnSpc>
        <a:spcBef>
          <a:spcPct val="113000"/>
        </a:spcBef>
        <a:buChar char="•"/>
        <a:defRPr sz="2700">
          <a:solidFill>
            <a:schemeClr val="tx1"/>
          </a:solidFill>
          <a:latin typeface="+mn-lt"/>
          <a:ea typeface="+mn-lt"/>
          <a:cs typeface="+mn-lt"/>
        </a:defRPr>
      </a:lvl2pPr>
      <a:lvl3pPr marL="1285875" indent="-257175" algn="l">
        <a:lnSpc>
          <a:spcPct val="90000"/>
        </a:lnSpc>
        <a:spcBef>
          <a:spcPct val="113000"/>
        </a:spcBef>
        <a:buChar char="•"/>
        <a:defRPr sz="2250">
          <a:solidFill>
            <a:schemeClr val="tx1"/>
          </a:solidFill>
          <a:latin typeface="+mn-lt"/>
          <a:ea typeface="+mn-lt"/>
          <a:cs typeface="+mn-lt"/>
        </a:defRPr>
      </a:lvl3pPr>
      <a:lvl4pPr marL="1800225" indent="-257175" algn="l">
        <a:lnSpc>
          <a:spcPct val="90000"/>
        </a:lnSpc>
        <a:spcBef>
          <a:spcPct val="113000"/>
        </a:spcBef>
        <a:buChar char="•"/>
        <a:defRPr sz="2025">
          <a:solidFill>
            <a:schemeClr val="tx1"/>
          </a:solidFill>
          <a:latin typeface="+mn-lt"/>
          <a:ea typeface="+mn-lt"/>
          <a:cs typeface="+mn-lt"/>
        </a:defRPr>
      </a:lvl4pPr>
      <a:lvl5pPr marL="2314575" indent="-257175" algn="l">
        <a:lnSpc>
          <a:spcPct val="90000"/>
        </a:lnSpc>
        <a:spcBef>
          <a:spcPct val="113000"/>
        </a:spcBef>
        <a:buChar char="•"/>
        <a:defRPr sz="2025">
          <a:solidFill>
            <a:schemeClr val="tx1"/>
          </a:solidFill>
          <a:latin typeface="+mn-lt"/>
          <a:ea typeface="+mn-lt"/>
          <a:cs typeface="+mn-lt"/>
        </a:defRPr>
      </a:lvl5pPr>
      <a:lvl6pPr marL="2828925" indent="-257175" algn="l">
        <a:lnSpc>
          <a:spcPct val="90000"/>
        </a:lnSpc>
        <a:spcBef>
          <a:spcPct val="113000"/>
        </a:spcBef>
        <a:buChar char="•"/>
        <a:defRPr sz="2025">
          <a:solidFill>
            <a:schemeClr val="tx1"/>
          </a:solidFill>
          <a:latin typeface="+mn-lt"/>
          <a:ea typeface="+mn-lt"/>
          <a:cs typeface="+mn-lt"/>
        </a:defRPr>
      </a:lvl6pPr>
      <a:lvl7pPr marL="3343275" indent="-257175" algn="l">
        <a:lnSpc>
          <a:spcPct val="90000"/>
        </a:lnSpc>
        <a:spcBef>
          <a:spcPct val="113000"/>
        </a:spcBef>
        <a:buChar char="•"/>
        <a:defRPr sz="2025">
          <a:solidFill>
            <a:schemeClr val="tx1"/>
          </a:solidFill>
          <a:latin typeface="+mn-lt"/>
          <a:ea typeface="+mn-lt"/>
          <a:cs typeface="+mn-lt"/>
        </a:defRPr>
      </a:lvl7pPr>
      <a:lvl8pPr marL="3857625" indent="-257175" algn="l">
        <a:lnSpc>
          <a:spcPct val="90000"/>
        </a:lnSpc>
        <a:spcBef>
          <a:spcPct val="113000"/>
        </a:spcBef>
        <a:buChar char="•"/>
        <a:defRPr sz="2025">
          <a:solidFill>
            <a:schemeClr val="tx1"/>
          </a:solidFill>
          <a:latin typeface="+mn-lt"/>
          <a:ea typeface="+mn-lt"/>
          <a:cs typeface="+mn-lt"/>
        </a:defRPr>
      </a:lvl8pPr>
      <a:lvl9pPr marL="4371975" indent="-257175" algn="l">
        <a:lnSpc>
          <a:spcPct val="90000"/>
        </a:lnSpc>
        <a:spcBef>
          <a:spcPct val="113000"/>
        </a:spcBef>
        <a:buChar char="•"/>
        <a:defRPr sz="2025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2025">
          <a:solidFill>
            <a:schemeClr val="tx1"/>
          </a:solidFill>
          <a:latin typeface="+mn-lt"/>
          <a:ea typeface="+mn-lt"/>
          <a:cs typeface="+mn-lt"/>
        </a:defRPr>
      </a:lvl1pPr>
      <a:lvl2pPr marL="514350" algn="l">
        <a:buNone/>
        <a:defRPr sz="2025">
          <a:solidFill>
            <a:schemeClr val="tx1"/>
          </a:solidFill>
          <a:latin typeface="+mn-lt"/>
          <a:ea typeface="+mn-lt"/>
          <a:cs typeface="+mn-lt"/>
        </a:defRPr>
      </a:lvl2pPr>
      <a:lvl3pPr marL="1028700" algn="l">
        <a:buNone/>
        <a:defRPr sz="2025">
          <a:solidFill>
            <a:schemeClr val="tx1"/>
          </a:solidFill>
          <a:latin typeface="+mn-lt"/>
          <a:ea typeface="+mn-lt"/>
          <a:cs typeface="+mn-lt"/>
        </a:defRPr>
      </a:lvl3pPr>
      <a:lvl4pPr marL="1543050" algn="l">
        <a:buNone/>
        <a:defRPr sz="2025">
          <a:solidFill>
            <a:schemeClr val="tx1"/>
          </a:solidFill>
          <a:latin typeface="+mn-lt"/>
          <a:ea typeface="+mn-lt"/>
          <a:cs typeface="+mn-lt"/>
        </a:defRPr>
      </a:lvl4pPr>
      <a:lvl5pPr marL="2057400" algn="l">
        <a:buNone/>
        <a:defRPr sz="2025">
          <a:solidFill>
            <a:schemeClr val="tx1"/>
          </a:solidFill>
          <a:latin typeface="+mn-lt"/>
          <a:ea typeface="+mn-lt"/>
          <a:cs typeface="+mn-lt"/>
        </a:defRPr>
      </a:lvl5pPr>
      <a:lvl6pPr marL="2571750" algn="l">
        <a:buNone/>
        <a:defRPr sz="2025">
          <a:solidFill>
            <a:schemeClr val="tx1"/>
          </a:solidFill>
          <a:latin typeface="+mn-lt"/>
          <a:ea typeface="+mn-lt"/>
          <a:cs typeface="+mn-lt"/>
        </a:defRPr>
      </a:lvl6pPr>
      <a:lvl7pPr marL="3086100" algn="l">
        <a:buNone/>
        <a:defRPr sz="2025">
          <a:solidFill>
            <a:schemeClr val="tx1"/>
          </a:solidFill>
          <a:latin typeface="+mn-lt"/>
          <a:ea typeface="+mn-lt"/>
          <a:cs typeface="+mn-lt"/>
        </a:defRPr>
      </a:lvl7pPr>
      <a:lvl8pPr marL="3600450" algn="l">
        <a:buNone/>
        <a:defRPr sz="2025">
          <a:solidFill>
            <a:schemeClr val="tx1"/>
          </a:solidFill>
          <a:latin typeface="+mn-lt"/>
          <a:ea typeface="+mn-lt"/>
          <a:cs typeface="+mn-lt"/>
        </a:defRPr>
      </a:lvl8pPr>
      <a:lvl9pPr marL="4114800" algn="l">
        <a:buNone/>
        <a:defRPr sz="2025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8" Type="http://schemas.openxmlformats.org/officeDocument/2006/relationships/notesSlide" Target="../notesSlides/notesSlide3.xml"/><Relationship Id="rId37" Type="http://schemas.openxmlformats.org/officeDocument/2006/relationships/slideLayout" Target="../slideLayouts/slideLayout1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section-1"/>
          <p:cNvSpPr>
            <a:spLocks noGrp="1"/>
          </p:cNvSpPr>
          <p:nvPr/>
        </p:nvSpPr>
        <p:spPr>
          <a:xfrm>
            <a:off x="323850" y="300315"/>
            <a:ext cx="13068300" cy="2038985"/>
          </a:xfrm>
          <a:prstGeom prst="rect">
            <a:avLst/>
          </a:prstGeom>
          <a:solidFill>
            <a:srgbClr val="F6F8FA"/>
          </a:solidFill>
          <a:ln w="20955">
            <a:solidFill>
              <a:schemeClr val="tx1"/>
            </a:solidFill>
            <a:prstDash val="solid"/>
          </a:ln>
        </p:spPr>
      </p:sp>
      <p:sp>
        <p:nvSpPr>
          <p:cNvPr id="5" name="section-1-title"/>
          <p:cNvSpPr>
            <a:spLocks noGrp="1"/>
          </p:cNvSpPr>
          <p:nvPr/>
        </p:nvSpPr>
        <p:spPr>
          <a:xfrm>
            <a:off x="356235" y="400010"/>
            <a:ext cx="1282636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2175" b="1">
                <a:solidFill>
                  <a:srgbClr val="1F4E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2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Technology foundation</a:t>
            </a:r>
            <a:endParaRPr lang="en-US" altLang="zh-CN" sz="22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section-2"/>
          <p:cNvSpPr>
            <a:spLocks noGrp="1"/>
          </p:cNvSpPr>
          <p:nvPr/>
        </p:nvSpPr>
        <p:spPr>
          <a:xfrm>
            <a:off x="323850" y="2707005"/>
            <a:ext cx="13068300" cy="1998980"/>
          </a:xfrm>
          <a:prstGeom prst="rect">
            <a:avLst/>
          </a:prstGeom>
          <a:solidFill>
            <a:srgbClr val="FBEDE8"/>
          </a:solidFill>
          <a:ln w="20955">
            <a:solidFill>
              <a:schemeClr val="tx1"/>
            </a:solidFill>
            <a:prstDash val="solid"/>
          </a:ln>
        </p:spPr>
      </p:sp>
      <p:sp>
        <p:nvSpPr>
          <p:cNvPr id="9" name="section-2-title"/>
          <p:cNvSpPr>
            <a:spLocks noGrp="1"/>
          </p:cNvSpPr>
          <p:nvPr/>
        </p:nvSpPr>
        <p:spPr>
          <a:xfrm>
            <a:off x="331470" y="2837775"/>
            <a:ext cx="1306893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2175" b="1">
                <a:solidFill>
                  <a:srgbClr val="B65B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2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Process-safety bottlenecks</a:t>
            </a:r>
            <a:endParaRPr lang="en-US" altLang="zh-CN" sz="22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section-3"/>
          <p:cNvSpPr>
            <a:spLocks noGrp="1"/>
          </p:cNvSpPr>
          <p:nvPr/>
        </p:nvSpPr>
        <p:spPr>
          <a:xfrm>
            <a:off x="323850" y="5045075"/>
            <a:ext cx="13068300" cy="1889125"/>
          </a:xfrm>
          <a:prstGeom prst="rect">
            <a:avLst/>
          </a:prstGeom>
          <a:solidFill>
            <a:srgbClr val="F6F8FA"/>
          </a:solidFill>
          <a:ln w="20955">
            <a:solidFill>
              <a:schemeClr val="tx1"/>
            </a:solidFill>
            <a:prstDash val="solid"/>
          </a:ln>
        </p:spPr>
      </p:sp>
      <p:sp>
        <p:nvSpPr>
          <p:cNvPr id="13" name="section-3-title"/>
          <p:cNvSpPr>
            <a:spLocks noGrp="1"/>
          </p:cNvSpPr>
          <p:nvPr/>
        </p:nvSpPr>
        <p:spPr>
          <a:xfrm>
            <a:off x="323215" y="5139015"/>
            <a:ext cx="1305687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2175" b="1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2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Identified research gap</a:t>
            </a:r>
            <a:endParaRPr lang="en-US" altLang="zh-CN" sz="22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section-4"/>
          <p:cNvSpPr>
            <a:spLocks noGrp="1"/>
          </p:cNvSpPr>
          <p:nvPr/>
        </p:nvSpPr>
        <p:spPr>
          <a:xfrm>
            <a:off x="323850" y="7323455"/>
            <a:ext cx="13068300" cy="2165350"/>
          </a:xfrm>
          <a:prstGeom prst="rect">
            <a:avLst/>
          </a:prstGeom>
          <a:solidFill>
            <a:srgbClr val="FBEDE8"/>
          </a:solidFill>
          <a:ln w="20955">
            <a:solidFill>
              <a:schemeClr val="tx1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7" name="section-4-title"/>
          <p:cNvSpPr>
            <a:spLocks noGrp="1"/>
          </p:cNvSpPr>
          <p:nvPr/>
        </p:nvSpPr>
        <p:spPr>
          <a:xfrm>
            <a:off x="323215" y="7421840"/>
            <a:ext cx="1303782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2175" b="1">
                <a:solidFill>
                  <a:srgbClr val="1F4E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Scope of this study</a:t>
            </a:r>
            <a:endParaRPr sz="22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f1-tech-0-box"/>
          <p:cNvSpPr>
            <a:spLocks noGrp="1"/>
          </p:cNvSpPr>
          <p:nvPr/>
        </p:nvSpPr>
        <p:spPr>
          <a:xfrm>
            <a:off x="571500" y="1003300"/>
            <a:ext cx="12524105" cy="736600"/>
          </a:xfrm>
          <a:prstGeom prst="rect">
            <a:avLst/>
          </a:prstGeom>
          <a:solidFill>
            <a:srgbClr val="FFFFFF"/>
          </a:solidFill>
          <a:ln w="14288">
            <a:solidFill>
              <a:schemeClr val="tx1"/>
            </a:solidFill>
            <a:prstDash val="solid"/>
          </a:ln>
        </p:spPr>
      </p:sp>
      <p:sp>
        <p:nvSpPr>
          <p:cNvPr id="19" name="f1-tech-0-title"/>
          <p:cNvSpPr>
            <a:spLocks noGrp="1"/>
          </p:cNvSpPr>
          <p:nvPr/>
        </p:nvSpPr>
        <p:spPr>
          <a:xfrm>
            <a:off x="762000" y="1220385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Intelligent mining</a:t>
            </a:r>
            <a:endParaRPr sz="18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f1-tech-1-title"/>
          <p:cNvSpPr>
            <a:spLocks noGrp="1"/>
          </p:cNvSpPr>
          <p:nvPr/>
        </p:nvSpPr>
        <p:spPr>
          <a:xfrm>
            <a:off x="3924300" y="1220385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Unmanned transport</a:t>
            </a:r>
            <a:endParaRPr sz="18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f1-tech-2-title"/>
          <p:cNvSpPr>
            <a:spLocks noGrp="1"/>
          </p:cNvSpPr>
          <p:nvPr/>
        </p:nvSpPr>
        <p:spPr>
          <a:xfrm>
            <a:off x="7086600" y="1220385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Robotic inspection</a:t>
            </a:r>
            <a:endParaRPr sz="18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f1-tech-3-title"/>
          <p:cNvSpPr>
            <a:spLocks noGrp="1"/>
          </p:cNvSpPr>
          <p:nvPr/>
        </p:nvSpPr>
        <p:spPr>
          <a:xfrm>
            <a:off x="10248900" y="1220385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Monitoring and warning</a:t>
            </a:r>
            <a:endParaRPr sz="18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f1-progress-text"/>
          <p:cNvSpPr>
            <a:spLocks noGrp="1"/>
          </p:cNvSpPr>
          <p:nvPr/>
        </p:nvSpPr>
        <p:spPr>
          <a:xfrm>
            <a:off x="762000" y="1957030"/>
            <a:ext cx="12192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1F4E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Automation has improved, but response traceability remains limited.</a:t>
            </a:r>
            <a:endParaRPr lang="en-US" altLang="zh-CN" sz="1600" b="1">
              <a:solidFill>
                <a:schemeClr val="tx1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  <a:sym typeface="+mn-ea"/>
            </a:endParaRPr>
          </a:p>
        </p:txBody>
      </p:sp>
      <p:sp>
        <p:nvSpPr>
          <p:cNvPr id="32" name="f1-bot-0-box"/>
          <p:cNvSpPr>
            <a:spLocks noGrp="1"/>
          </p:cNvSpPr>
          <p:nvPr/>
        </p:nvSpPr>
        <p:spPr>
          <a:xfrm>
            <a:off x="628650" y="3366770"/>
            <a:ext cx="12421235" cy="852170"/>
          </a:xfrm>
          <a:prstGeom prst="rect">
            <a:avLst/>
          </a:prstGeom>
          <a:solidFill>
            <a:srgbClr val="FFFFFF"/>
          </a:solidFill>
          <a:ln w="14288">
            <a:solidFill>
              <a:schemeClr val="tx1"/>
            </a:solidFill>
            <a:prstDash val="solid"/>
          </a:ln>
        </p:spPr>
      </p:sp>
      <p:sp>
        <p:nvSpPr>
          <p:cNvPr id="33" name="f1-bot-0-title"/>
          <p:cNvSpPr>
            <a:spLocks noGrp="1"/>
          </p:cNvSpPr>
          <p:nvPr/>
        </p:nvSpPr>
        <p:spPr>
          <a:xfrm>
            <a:off x="819150" y="3552785"/>
            <a:ext cx="3657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Perception gaps</a:t>
            </a:r>
            <a:endParaRPr sz="18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" name="f1-bot-0-body"/>
          <p:cNvSpPr>
            <a:spLocks noGrp="1"/>
          </p:cNvSpPr>
          <p:nvPr/>
        </p:nvSpPr>
        <p:spPr>
          <a:xfrm>
            <a:off x="819150" y="3895685"/>
            <a:ext cx="36576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Incomplete data coverage</a:t>
            </a:r>
            <a:endParaRPr lang="en-US" altLang="zh-CN" sz="1400" b="0">
              <a:solidFill>
                <a:schemeClr val="tx1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  <a:sym typeface="+mn-ea"/>
            </a:endParaRPr>
          </a:p>
        </p:txBody>
      </p:sp>
      <p:sp>
        <p:nvSpPr>
          <p:cNvPr id="36" name="f1-bot-1-title"/>
          <p:cNvSpPr>
            <a:spLocks noGrp="1"/>
          </p:cNvSpPr>
          <p:nvPr/>
        </p:nvSpPr>
        <p:spPr>
          <a:xfrm>
            <a:off x="5010150" y="3552785"/>
            <a:ext cx="3657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Warning interpretation</a:t>
            </a:r>
            <a:endParaRPr sz="18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" name="f1-bot-1-body"/>
          <p:cNvSpPr>
            <a:spLocks noGrp="1"/>
          </p:cNvSpPr>
          <p:nvPr/>
        </p:nvSpPr>
        <p:spPr>
          <a:xfrm>
            <a:off x="4902835" y="3895685"/>
            <a:ext cx="3961765" cy="175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Threshold alarms; limited contex</a:t>
            </a:r>
            <a:r>
              <a:rPr lang="en-US" altLang="zh-CN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</a:t>
            </a:r>
            <a:endParaRPr lang="en-US" altLang="zh-CN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9" name="f1-bot-2-title"/>
          <p:cNvSpPr>
            <a:spLocks noGrp="1"/>
          </p:cNvSpPr>
          <p:nvPr/>
        </p:nvSpPr>
        <p:spPr>
          <a:xfrm>
            <a:off x="9201150" y="3552785"/>
            <a:ext cx="3657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Response linkage</a:t>
            </a:r>
            <a:endParaRPr sz="18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" name="f1-bot-2-body"/>
          <p:cNvSpPr>
            <a:spLocks noGrp="1"/>
          </p:cNvSpPr>
          <p:nvPr/>
        </p:nvSpPr>
        <p:spPr>
          <a:xfrm>
            <a:off x="9201150" y="3895685"/>
            <a:ext cx="36576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Weak link to task and closure records</a:t>
            </a:r>
            <a:endParaRPr lang="en-US" altLang="zh-CN" sz="1400" b="0">
              <a:solidFill>
                <a:schemeClr val="tx1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  <a:sym typeface="+mn-ea"/>
            </a:endParaRPr>
          </a:p>
        </p:txBody>
      </p:sp>
      <p:sp>
        <p:nvSpPr>
          <p:cNvPr id="42" name="f1-problem-text"/>
          <p:cNvSpPr>
            <a:spLocks noGrp="1"/>
          </p:cNvSpPr>
          <p:nvPr/>
        </p:nvSpPr>
        <p:spPr>
          <a:xfrm>
            <a:off x="857250" y="4338915"/>
            <a:ext cx="1200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B65B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lang="en-US" altLang="zh-CN" sz="16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Core issue: warning outputs are not auditable without response-chain records</a:t>
            </a:r>
            <a:endParaRPr lang="en-US" altLang="zh-CN" sz="16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3" name="f1-gap-0-box"/>
          <p:cNvSpPr>
            <a:spLocks noGrp="1"/>
          </p:cNvSpPr>
          <p:nvPr/>
        </p:nvSpPr>
        <p:spPr>
          <a:xfrm>
            <a:off x="628650" y="5654040"/>
            <a:ext cx="12421235" cy="809625"/>
          </a:xfrm>
          <a:prstGeom prst="rect">
            <a:avLst/>
          </a:prstGeom>
          <a:solidFill>
            <a:srgbClr val="FFFFFF"/>
          </a:solidFill>
          <a:ln w="14288">
            <a:solidFill>
              <a:schemeClr val="tx1"/>
            </a:solidFill>
            <a:prstDash val="solid"/>
          </a:ln>
        </p:spPr>
      </p:sp>
      <p:sp>
        <p:nvSpPr>
          <p:cNvPr id="44" name="f1-gap-0-title"/>
          <p:cNvSpPr>
            <a:spLocks noGrp="1"/>
          </p:cNvSpPr>
          <p:nvPr/>
        </p:nvSpPr>
        <p:spPr>
          <a:xfrm>
            <a:off x="819150" y="5768300"/>
            <a:ext cx="3657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Process-data governance</a:t>
            </a:r>
            <a:endParaRPr sz="18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5" name="f1-gap-0-body"/>
          <p:cNvSpPr>
            <a:spLocks noGrp="1"/>
          </p:cNvSpPr>
          <p:nvPr/>
        </p:nvSpPr>
        <p:spPr>
          <a:xfrm>
            <a:off x="819150" y="6111200"/>
            <a:ext cx="36576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sensing data not linked to response evidence</a:t>
            </a:r>
            <a:endParaRPr sz="1400" b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7" name="f1-gap-1-title"/>
          <p:cNvSpPr>
            <a:spLocks noGrp="1"/>
          </p:cNvSpPr>
          <p:nvPr/>
        </p:nvSpPr>
        <p:spPr>
          <a:xfrm>
            <a:off x="5010150" y="5768300"/>
            <a:ext cx="3657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Warning-response chain</a:t>
            </a:r>
            <a:endParaRPr sz="18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8" name="f1-gap-1-body"/>
          <p:cNvSpPr>
            <a:spLocks noGrp="1"/>
          </p:cNvSpPr>
          <p:nvPr/>
        </p:nvSpPr>
        <p:spPr>
          <a:xfrm>
            <a:off x="4794885" y="6111240"/>
            <a:ext cx="4054475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outputs weakly linked to dispatch and verification</a:t>
            </a:r>
            <a:endParaRPr sz="1400" b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0" name="f1-gap-2-title"/>
          <p:cNvSpPr>
            <a:spLocks noGrp="1"/>
          </p:cNvSpPr>
          <p:nvPr/>
        </p:nvSpPr>
        <p:spPr>
          <a:xfrm>
            <a:off x="9201150" y="5768300"/>
            <a:ext cx="3657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Open-data evaluation</a:t>
            </a:r>
            <a:endParaRPr sz="18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1" name="f1-gap-2-body"/>
          <p:cNvSpPr>
            <a:spLocks noGrp="1"/>
          </p:cNvSpPr>
          <p:nvPr/>
        </p:nvSpPr>
        <p:spPr>
          <a:xfrm>
            <a:off x="9201150" y="6111200"/>
            <a:ext cx="365760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workload and traceability assessed separately</a:t>
            </a:r>
            <a:endParaRPr sz="1400" b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3" name="f1-gap-note-text"/>
          <p:cNvSpPr>
            <a:spLocks noGrp="1"/>
          </p:cNvSpPr>
          <p:nvPr/>
        </p:nvSpPr>
        <p:spPr>
          <a:xfrm>
            <a:off x="857250" y="6612215"/>
            <a:ext cx="1200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Remaining need: evaluate the path from warning evidence to verified response records.</a:t>
            </a:r>
            <a:endParaRPr lang="en-US" altLang="zh-CN" sz="16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5" name="f1-study-0-text"/>
          <p:cNvSpPr>
            <a:spLocks noGrp="1"/>
          </p:cNvSpPr>
          <p:nvPr/>
        </p:nvSpPr>
        <p:spPr>
          <a:xfrm>
            <a:off x="1097280" y="8064500"/>
            <a:ext cx="414528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defRPr sz="1425" b="0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public seismic-bump warning outputs</a:t>
            </a:r>
            <a:endParaRPr lang="en-US" altLang="zh-CN" b="0">
              <a:solidFill>
                <a:schemeClr val="tx1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algn="l">
              <a:lnSpc>
                <a:spcPct val="120000"/>
              </a:lnSpc>
              <a:defRPr sz="1425" b="0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missed hazardous </a:t>
            </a:r>
            <a:r>
              <a:rPr lang="en-US" altLang="zh-CN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cases 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and warning workload</a:t>
            </a:r>
            <a:endParaRPr lang="en-US" altLang="zh-CN" b="0">
              <a:solidFill>
                <a:schemeClr val="tx1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  <a:p>
            <a:pPr algn="l">
              <a:lnSpc>
                <a:spcPct val="120000"/>
              </a:lnSpc>
              <a:defRPr sz="1425" b="0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P-W-D-A-V-F mapping of public evidence</a:t>
            </a:r>
            <a:endParaRPr sz="1425" b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3" name="f1-chain-P-box"/>
          <p:cNvSpPr>
            <a:spLocks noGrp="1"/>
          </p:cNvSpPr>
          <p:nvPr/>
        </p:nvSpPr>
        <p:spPr>
          <a:xfrm>
            <a:off x="6791325" y="8022590"/>
            <a:ext cx="5915025" cy="950595"/>
          </a:xfrm>
          <a:prstGeom prst="rect">
            <a:avLst/>
          </a:prstGeom>
          <a:solidFill>
            <a:srgbClr val="FFFFFF"/>
          </a:solidFill>
          <a:ln w="12700" cmpd="sng">
            <a:solidFill>
              <a:schemeClr val="tx1"/>
            </a:solidFill>
            <a:prstDash val="solid"/>
          </a:ln>
        </p:spPr>
      </p:sp>
      <p:sp>
        <p:nvSpPr>
          <p:cNvPr id="64" name="f1-chain-P-circle"/>
          <p:cNvSpPr>
            <a:spLocks noGrp="1"/>
          </p:cNvSpPr>
          <p:nvPr/>
        </p:nvSpPr>
        <p:spPr>
          <a:xfrm>
            <a:off x="7061994" y="8227655"/>
            <a:ext cx="323850" cy="323850"/>
          </a:xfrm>
          <a:prstGeom prst="rect">
            <a:avLst/>
          </a:prstGeom>
          <a:noFill/>
          <a:ln w="9525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1F4E79"/>
                </a:solidFill>
              </a14:hiddenFill>
            </a:ext>
          </a:extLst>
        </p:spPr>
      </p:sp>
      <p:sp>
        <p:nvSpPr>
          <p:cNvPr id="65" name="f1-chain-P-label"/>
          <p:cNvSpPr>
            <a:spLocks noGrp="1"/>
          </p:cNvSpPr>
          <p:nvPr/>
        </p:nvSpPr>
        <p:spPr>
          <a:xfrm>
            <a:off x="7061994" y="8237180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6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</a:t>
            </a:r>
            <a:endParaRPr lang="en-US" sz="16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6" name="f1-chain-P-text"/>
          <p:cNvSpPr>
            <a:spLocks noGrp="1"/>
          </p:cNvSpPr>
          <p:nvPr/>
        </p:nvSpPr>
        <p:spPr>
          <a:xfrm>
            <a:off x="6829425" y="8517850"/>
            <a:ext cx="788988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125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Perception</a:t>
            </a:r>
            <a:endParaRPr lang="en-US" altLang="zh-CN" sz="1125" b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8" name="f1-chain-W-circle"/>
          <p:cNvSpPr>
            <a:spLocks noGrp="1"/>
          </p:cNvSpPr>
          <p:nvPr/>
        </p:nvSpPr>
        <p:spPr>
          <a:xfrm>
            <a:off x="8079581" y="8227655"/>
            <a:ext cx="323850" cy="323850"/>
          </a:xfrm>
          <a:prstGeom prst="rect">
            <a:avLst/>
          </a:prstGeom>
          <a:noFill/>
          <a:ln w="9525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1F4E79"/>
                </a:solidFill>
              </a14:hiddenFill>
            </a:ext>
          </a:extLst>
        </p:spPr>
      </p:sp>
      <p:sp>
        <p:nvSpPr>
          <p:cNvPr id="69" name="f1-chain-W-label"/>
          <p:cNvSpPr>
            <a:spLocks noGrp="1"/>
          </p:cNvSpPr>
          <p:nvPr/>
        </p:nvSpPr>
        <p:spPr>
          <a:xfrm>
            <a:off x="8079581" y="8237180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</a:t>
            </a:r>
            <a:endParaRPr sz="16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0" name="f1-chain-W-text"/>
          <p:cNvSpPr>
            <a:spLocks noGrp="1"/>
          </p:cNvSpPr>
          <p:nvPr/>
        </p:nvSpPr>
        <p:spPr>
          <a:xfrm>
            <a:off x="7847013" y="8517850"/>
            <a:ext cx="788988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Warning</a:t>
            </a:r>
            <a:endParaRPr sz="1125" b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2" name="f1-chain-D-circle"/>
          <p:cNvSpPr>
            <a:spLocks noGrp="1"/>
          </p:cNvSpPr>
          <p:nvPr/>
        </p:nvSpPr>
        <p:spPr>
          <a:xfrm>
            <a:off x="9097169" y="8227655"/>
            <a:ext cx="323850" cy="323850"/>
          </a:xfrm>
          <a:prstGeom prst="rect">
            <a:avLst/>
          </a:prstGeom>
          <a:noFill/>
          <a:ln w="9525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1F4E79"/>
                </a:solidFill>
              </a14:hiddenFill>
            </a:ext>
          </a:extLst>
        </p:spPr>
      </p:sp>
      <p:sp>
        <p:nvSpPr>
          <p:cNvPr id="73" name="f1-chain-D-label"/>
          <p:cNvSpPr>
            <a:spLocks noGrp="1"/>
          </p:cNvSpPr>
          <p:nvPr/>
        </p:nvSpPr>
        <p:spPr>
          <a:xfrm>
            <a:off x="9097169" y="8237180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endParaRPr sz="16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4" name="f1-chain-D-text"/>
          <p:cNvSpPr>
            <a:spLocks noGrp="1"/>
          </p:cNvSpPr>
          <p:nvPr/>
        </p:nvSpPr>
        <p:spPr>
          <a:xfrm>
            <a:off x="8864600" y="8517850"/>
            <a:ext cx="788988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Dispatch</a:t>
            </a:r>
            <a:endParaRPr sz="1125" b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6" name="f1-chain-A-circle"/>
          <p:cNvSpPr>
            <a:spLocks noGrp="1"/>
          </p:cNvSpPr>
          <p:nvPr/>
        </p:nvSpPr>
        <p:spPr>
          <a:xfrm>
            <a:off x="10114756" y="8227655"/>
            <a:ext cx="323850" cy="323850"/>
          </a:xfrm>
          <a:prstGeom prst="rect">
            <a:avLst/>
          </a:prstGeom>
          <a:noFill/>
          <a:ln w="9525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1F4E79"/>
                </a:solidFill>
              </a14:hiddenFill>
            </a:ext>
          </a:extLst>
        </p:spPr>
      </p:sp>
      <p:sp>
        <p:nvSpPr>
          <p:cNvPr id="77" name="f1-chain-A-label"/>
          <p:cNvSpPr>
            <a:spLocks noGrp="1"/>
          </p:cNvSpPr>
          <p:nvPr/>
        </p:nvSpPr>
        <p:spPr>
          <a:xfrm>
            <a:off x="10114756" y="8237180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endParaRPr sz="16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8" name="f1-chain-A-text"/>
          <p:cNvSpPr>
            <a:spLocks noGrp="1"/>
          </p:cNvSpPr>
          <p:nvPr/>
        </p:nvSpPr>
        <p:spPr>
          <a:xfrm>
            <a:off x="9882188" y="8517850"/>
            <a:ext cx="788988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125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Response action</a:t>
            </a:r>
            <a:endParaRPr lang="en-US" altLang="zh-CN" sz="1125" b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0" name="f1-chain-V-circle"/>
          <p:cNvSpPr>
            <a:spLocks noGrp="1"/>
          </p:cNvSpPr>
          <p:nvPr/>
        </p:nvSpPr>
        <p:spPr>
          <a:xfrm>
            <a:off x="11132344" y="8227655"/>
            <a:ext cx="323850" cy="323850"/>
          </a:xfrm>
          <a:prstGeom prst="rect">
            <a:avLst/>
          </a:prstGeom>
          <a:noFill/>
          <a:ln w="9525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1F4E79"/>
                </a:solidFill>
              </a14:hiddenFill>
            </a:ext>
          </a:extLst>
        </p:spPr>
      </p:sp>
      <p:sp>
        <p:nvSpPr>
          <p:cNvPr id="81" name="f1-chain-V-label"/>
          <p:cNvSpPr>
            <a:spLocks noGrp="1"/>
          </p:cNvSpPr>
          <p:nvPr/>
        </p:nvSpPr>
        <p:spPr>
          <a:xfrm>
            <a:off x="11132344" y="8237180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</a:t>
            </a:r>
            <a:endParaRPr sz="16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2" name="f1-chain-V-text"/>
          <p:cNvSpPr>
            <a:spLocks noGrp="1"/>
          </p:cNvSpPr>
          <p:nvPr/>
        </p:nvSpPr>
        <p:spPr>
          <a:xfrm>
            <a:off x="10899775" y="8517850"/>
            <a:ext cx="788988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125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Verification</a:t>
            </a:r>
            <a:endParaRPr lang="en-US" altLang="zh-CN" sz="1125" b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4" name="f1-chain-F-circle"/>
          <p:cNvSpPr>
            <a:spLocks noGrp="1"/>
          </p:cNvSpPr>
          <p:nvPr/>
        </p:nvSpPr>
        <p:spPr>
          <a:xfrm>
            <a:off x="12149931" y="8227655"/>
            <a:ext cx="323850" cy="323850"/>
          </a:xfrm>
          <a:prstGeom prst="rect">
            <a:avLst/>
          </a:prstGeom>
          <a:noFill/>
          <a:ln w="9525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1F4E79"/>
                </a:solidFill>
              </a14:hiddenFill>
            </a:ext>
          </a:extLst>
        </p:spPr>
      </p:sp>
      <p:sp>
        <p:nvSpPr>
          <p:cNvPr id="85" name="f1-chain-F-label"/>
          <p:cNvSpPr>
            <a:spLocks noGrp="1"/>
          </p:cNvSpPr>
          <p:nvPr/>
        </p:nvSpPr>
        <p:spPr>
          <a:xfrm>
            <a:off x="12149931" y="8237180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</a:t>
            </a:r>
            <a:endParaRPr sz="16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6" name="f1-chain-F-text"/>
          <p:cNvSpPr>
            <a:spLocks noGrp="1"/>
          </p:cNvSpPr>
          <p:nvPr/>
        </p:nvSpPr>
        <p:spPr>
          <a:xfrm>
            <a:off x="11917362" y="8517850"/>
            <a:ext cx="788988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Feedback</a:t>
            </a:r>
            <a:endParaRPr sz="1125" b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3" name="f1-output-text"/>
          <p:cNvSpPr>
            <a:spLocks noGrp="1"/>
          </p:cNvSpPr>
          <p:nvPr/>
        </p:nvSpPr>
        <p:spPr>
          <a:xfrm>
            <a:off x="714375" y="9122370"/>
            <a:ext cx="1228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Output: public-data warning-response evaluation method</a:t>
            </a:r>
            <a:endParaRPr lang="en-US" altLang="zh-CN" sz="16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100" name="直接箭头连接符 99"/>
          <p:cNvCxnSpPr>
            <a:stCxn id="2" idx="2"/>
            <a:endCxn id="6" idx="0"/>
          </p:cNvCxnSpPr>
          <p:nvPr/>
        </p:nvCxnSpPr>
        <p:spPr>
          <a:xfrm>
            <a:off x="6858000" y="2339300"/>
            <a:ext cx="0" cy="367665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>
            <a:stCxn id="6" idx="2"/>
            <a:endCxn id="10" idx="0"/>
          </p:cNvCxnSpPr>
          <p:nvPr/>
        </p:nvCxnSpPr>
        <p:spPr>
          <a:xfrm>
            <a:off x="6858000" y="4705945"/>
            <a:ext cx="0" cy="33909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>
            <a:stCxn id="10" idx="2"/>
            <a:endCxn id="14" idx="0"/>
          </p:cNvCxnSpPr>
          <p:nvPr/>
        </p:nvCxnSpPr>
        <p:spPr>
          <a:xfrm>
            <a:off x="6858000" y="6934160"/>
            <a:ext cx="0" cy="389255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/>
          <p:nvPr/>
        </p:nvCxnSpPr>
        <p:spPr>
          <a:xfrm>
            <a:off x="7649845" y="8496300"/>
            <a:ext cx="288290" cy="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/>
          <p:nvPr/>
        </p:nvCxnSpPr>
        <p:spPr>
          <a:xfrm>
            <a:off x="8636000" y="8496300"/>
            <a:ext cx="288290" cy="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/>
          <p:nvPr/>
        </p:nvCxnSpPr>
        <p:spPr>
          <a:xfrm>
            <a:off x="9594215" y="8517890"/>
            <a:ext cx="288290" cy="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7" name="直接箭头连接符 96"/>
          <p:cNvCxnSpPr/>
          <p:nvPr/>
        </p:nvCxnSpPr>
        <p:spPr>
          <a:xfrm>
            <a:off x="10602595" y="8517890"/>
            <a:ext cx="288290" cy="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/>
          <p:nvPr/>
        </p:nvCxnSpPr>
        <p:spPr>
          <a:xfrm>
            <a:off x="11689080" y="8517890"/>
            <a:ext cx="288290" cy="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9" name="f2-mid-label-bg"/>
          <p:cNvSpPr>
            <a:spLocks noGrp="1"/>
          </p:cNvSpPr>
          <p:nvPr/>
        </p:nvSpPr>
        <p:spPr>
          <a:xfrm>
            <a:off x="11610340" y="4392295"/>
            <a:ext cx="2016125" cy="2357755"/>
          </a:xfrm>
          <a:prstGeom prst="rect">
            <a:avLst/>
          </a:prstGeom>
          <a:solidFill>
            <a:srgbClr val="FBEDE8"/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2" name="f2-top-outer"/>
          <p:cNvSpPr>
            <a:spLocks noGrp="1"/>
          </p:cNvSpPr>
          <p:nvPr/>
        </p:nvSpPr>
        <p:spPr>
          <a:xfrm>
            <a:off x="428625" y="1351875"/>
            <a:ext cx="10906125" cy="2333625"/>
          </a:xfrm>
          <a:prstGeom prst="rect">
            <a:avLst/>
          </a:prstGeom>
          <a:solidFill>
            <a:srgbClr val="F8FBFD"/>
          </a:solidFill>
          <a:ln w="28575" cmpd="sng">
            <a:solidFill>
              <a:schemeClr val="tx1"/>
            </a:solidFill>
            <a:prstDash val="solid"/>
          </a:ln>
        </p:spPr>
      </p:sp>
      <p:sp>
        <p:nvSpPr>
          <p:cNvPr id="4" name="f2-top-title"/>
          <p:cNvSpPr>
            <a:spLocks noGrp="1"/>
          </p:cNvSpPr>
          <p:nvPr/>
        </p:nvSpPr>
        <p:spPr>
          <a:xfrm>
            <a:off x="619125" y="2089785"/>
            <a:ext cx="36385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950" b="1">
                <a:solidFill>
                  <a:srgbClr val="1F4E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2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Response-record layer</a:t>
            </a:r>
            <a:endParaRPr lang="en-US" altLang="zh-CN" sz="22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f2-top-sub"/>
          <p:cNvSpPr>
            <a:spLocks noGrp="1"/>
          </p:cNvSpPr>
          <p:nvPr/>
        </p:nvSpPr>
        <p:spPr>
          <a:xfrm>
            <a:off x="428625" y="2852420"/>
            <a:ext cx="385953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1F4E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execution records</a:t>
            </a:r>
            <a:endParaRPr lang="en-US" altLang="zh-CN" sz="1600" b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f2-mid-outer"/>
          <p:cNvSpPr>
            <a:spLocks noGrp="1"/>
          </p:cNvSpPr>
          <p:nvPr/>
        </p:nvSpPr>
        <p:spPr>
          <a:xfrm>
            <a:off x="428625" y="4376380"/>
            <a:ext cx="10906125" cy="2381250"/>
          </a:xfrm>
          <a:prstGeom prst="rect">
            <a:avLst/>
          </a:prstGeom>
          <a:solidFill>
            <a:srgbClr val="FBEDE8"/>
          </a:solidFill>
          <a:ln w="28575" cmpd="sng">
            <a:solidFill>
              <a:schemeClr val="tx1"/>
            </a:solidFill>
            <a:prstDash val="solid"/>
          </a:ln>
        </p:spPr>
      </p:sp>
      <p:sp>
        <p:nvSpPr>
          <p:cNvPr id="16" name="f2-mid-title"/>
          <p:cNvSpPr>
            <a:spLocks noGrp="1"/>
          </p:cNvSpPr>
          <p:nvPr/>
        </p:nvSpPr>
        <p:spPr>
          <a:xfrm>
            <a:off x="619125" y="5066665"/>
            <a:ext cx="36385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950" b="1">
                <a:solidFill>
                  <a:srgbClr val="4E7D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2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Risk-warning layer</a:t>
            </a:r>
            <a:endParaRPr lang="en-US" altLang="zh-CN" sz="22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f2-mid-sub"/>
          <p:cNvSpPr>
            <a:spLocks noGrp="1"/>
          </p:cNvSpPr>
          <p:nvPr/>
        </p:nvSpPr>
        <p:spPr>
          <a:xfrm>
            <a:off x="695325" y="5685790"/>
            <a:ext cx="356298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4E7D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analysis core</a:t>
            </a:r>
            <a:endParaRPr sz="1600" b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f2-bot-outer"/>
          <p:cNvSpPr>
            <a:spLocks noGrp="1"/>
          </p:cNvSpPr>
          <p:nvPr/>
        </p:nvSpPr>
        <p:spPr>
          <a:xfrm>
            <a:off x="428625" y="7473275"/>
            <a:ext cx="10906125" cy="2333625"/>
          </a:xfrm>
          <a:prstGeom prst="rect">
            <a:avLst/>
          </a:prstGeom>
          <a:solidFill>
            <a:srgbClr val="F8FBFD"/>
          </a:solidFill>
          <a:ln w="28575" cmpd="sng">
            <a:solidFill>
              <a:schemeClr val="tx1"/>
            </a:solidFill>
            <a:prstDash val="solid"/>
          </a:ln>
        </p:spPr>
      </p:sp>
      <p:sp>
        <p:nvSpPr>
          <p:cNvPr id="26" name="f2-bot-title"/>
          <p:cNvSpPr>
            <a:spLocks noGrp="1"/>
          </p:cNvSpPr>
          <p:nvPr/>
        </p:nvSpPr>
        <p:spPr>
          <a:xfrm>
            <a:off x="619125" y="8211185"/>
            <a:ext cx="366903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950" b="1">
                <a:solidFill>
                  <a:srgbClr val="1F4E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2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Perception/data layer</a:t>
            </a:r>
            <a:endParaRPr lang="en-US" altLang="zh-CN" sz="22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f2-bot-sub"/>
          <p:cNvSpPr>
            <a:spLocks noGrp="1"/>
          </p:cNvSpPr>
          <p:nvPr/>
        </p:nvSpPr>
        <p:spPr>
          <a:xfrm>
            <a:off x="695325" y="8973820"/>
            <a:ext cx="3562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1F4E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 acquisition</a:t>
            </a:r>
            <a:endParaRPr lang="en-US" altLang="zh-CN" sz="1600" b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9" name="f2-data-box"/>
          <p:cNvSpPr>
            <a:spLocks noGrp="1"/>
          </p:cNvSpPr>
          <p:nvPr/>
        </p:nvSpPr>
        <p:spPr>
          <a:xfrm>
            <a:off x="5285423" y="4994275"/>
            <a:ext cx="5867400" cy="1060450"/>
          </a:xfrm>
          <a:prstGeom prst="rect">
            <a:avLst/>
          </a:prstGeom>
          <a:solidFill>
            <a:schemeClr val="bg1"/>
          </a:solidFill>
          <a:ln w="14288">
            <a:solidFill>
              <a:schemeClr val="tx1"/>
            </a:solidFill>
            <a:prstDash val="solid"/>
          </a:ln>
        </p:spPr>
      </p:sp>
      <p:sp>
        <p:nvSpPr>
          <p:cNvPr id="60" name="f2-data-title"/>
          <p:cNvSpPr>
            <a:spLocks noGrp="1"/>
          </p:cNvSpPr>
          <p:nvPr/>
        </p:nvSpPr>
        <p:spPr>
          <a:xfrm>
            <a:off x="5367655" y="5184775"/>
            <a:ext cx="1890395" cy="2717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4E7D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 repository</a:t>
            </a:r>
            <a:endParaRPr lang="en-US" altLang="zh-CN" sz="16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1" name="f2-data-body"/>
          <p:cNvSpPr>
            <a:spLocks noGrp="1"/>
          </p:cNvSpPr>
          <p:nvPr/>
        </p:nvSpPr>
        <p:spPr>
          <a:xfrm>
            <a:off x="5629275" y="5470485"/>
            <a:ext cx="13430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200" b="0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warning and case objects</a:t>
            </a:r>
            <a:endParaRPr sz="1400" b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3" name="f2-models-title"/>
          <p:cNvSpPr>
            <a:spLocks noGrp="1"/>
          </p:cNvSpPr>
          <p:nvPr/>
        </p:nvSpPr>
        <p:spPr>
          <a:xfrm>
            <a:off x="7650480" y="5199340"/>
            <a:ext cx="1381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4E7D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Models</a:t>
            </a:r>
            <a:endParaRPr sz="16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4" name="f2-models-body"/>
          <p:cNvSpPr>
            <a:spLocks noGrp="1"/>
          </p:cNvSpPr>
          <p:nvPr/>
        </p:nvSpPr>
        <p:spPr>
          <a:xfrm>
            <a:off x="7520305" y="5470525"/>
            <a:ext cx="160464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200" b="0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hazard warning and risk interpretation</a:t>
            </a:r>
            <a:endParaRPr sz="1400" b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6" name="f2-apps-title"/>
          <p:cNvSpPr>
            <a:spLocks noGrp="1"/>
          </p:cNvSpPr>
          <p:nvPr/>
        </p:nvSpPr>
        <p:spPr>
          <a:xfrm>
            <a:off x="9715500" y="5208865"/>
            <a:ext cx="1381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4E7D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Applications</a:t>
            </a:r>
            <a:endParaRPr sz="16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7" name="f2-apps-body"/>
          <p:cNvSpPr>
            <a:spLocks noGrp="1"/>
          </p:cNvSpPr>
          <p:nvPr/>
        </p:nvSpPr>
        <p:spPr>
          <a:xfrm>
            <a:off x="9734550" y="5470485"/>
            <a:ext cx="13430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200" b="0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decision support and review</a:t>
            </a:r>
            <a:endParaRPr sz="1400" b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2" name="f2-edge-box"/>
          <p:cNvSpPr>
            <a:spLocks noGrp="1"/>
          </p:cNvSpPr>
          <p:nvPr/>
        </p:nvSpPr>
        <p:spPr>
          <a:xfrm>
            <a:off x="5259705" y="8063230"/>
            <a:ext cx="5918835" cy="1152525"/>
          </a:xfrm>
          <a:prstGeom prst="rect">
            <a:avLst/>
          </a:prstGeom>
          <a:solidFill>
            <a:schemeClr val="bg1"/>
          </a:solidFill>
          <a:ln w="14288">
            <a:solidFill>
              <a:schemeClr val="tx1"/>
            </a:solidFill>
            <a:prstDash val="solid"/>
          </a:ln>
        </p:spPr>
      </p:sp>
      <p:sp>
        <p:nvSpPr>
          <p:cNvPr id="73" name="f2-edge-title"/>
          <p:cNvSpPr>
            <a:spLocks noGrp="1"/>
          </p:cNvSpPr>
          <p:nvPr/>
        </p:nvSpPr>
        <p:spPr>
          <a:xfrm>
            <a:off x="5379720" y="8305800"/>
            <a:ext cx="166243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1F4E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Edge</a:t>
            </a:r>
            <a:endParaRPr sz="16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4" name="f2-edge-body"/>
          <p:cNvSpPr>
            <a:spLocks noGrp="1"/>
          </p:cNvSpPr>
          <p:nvPr/>
        </p:nvSpPr>
        <p:spPr>
          <a:xfrm>
            <a:off x="5398770" y="8495665"/>
            <a:ext cx="161607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200" b="0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sensors, positioning and video analytics</a:t>
            </a:r>
            <a:endParaRPr sz="1400" b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6" name="f2-edgec-title"/>
          <p:cNvSpPr>
            <a:spLocks noGrp="1"/>
          </p:cNvSpPr>
          <p:nvPr/>
        </p:nvSpPr>
        <p:spPr>
          <a:xfrm>
            <a:off x="7547610" y="8305800"/>
            <a:ext cx="159639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1F4E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Edge computing</a:t>
            </a:r>
            <a:endParaRPr sz="16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7" name="f2-edgec-body"/>
          <p:cNvSpPr>
            <a:spLocks noGrp="1"/>
          </p:cNvSpPr>
          <p:nvPr/>
        </p:nvSpPr>
        <p:spPr>
          <a:xfrm>
            <a:off x="7572375" y="8495665"/>
            <a:ext cx="155257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200" b="0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pre-processing and local linkage</a:t>
            </a:r>
            <a:endParaRPr sz="1400" b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9" name="f2-cloud-title"/>
          <p:cNvSpPr>
            <a:spLocks noGrp="1"/>
          </p:cNvSpPr>
          <p:nvPr/>
        </p:nvSpPr>
        <p:spPr>
          <a:xfrm>
            <a:off x="9611995" y="8305800"/>
            <a:ext cx="148526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1F4E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Cloud</a:t>
            </a:r>
            <a:endParaRPr sz="16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0" name="f2-cloud-body"/>
          <p:cNvSpPr>
            <a:spLocks noGrp="1"/>
          </p:cNvSpPr>
          <p:nvPr/>
        </p:nvSpPr>
        <p:spPr>
          <a:xfrm>
            <a:off x="9634220" y="8567420"/>
            <a:ext cx="144399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200" b="0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 governance and model training</a:t>
            </a:r>
            <a:endParaRPr sz="1400" b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7" name="f2-data-up1-label"/>
          <p:cNvSpPr>
            <a:spLocks noGrp="1"/>
          </p:cNvSpPr>
          <p:nvPr/>
        </p:nvSpPr>
        <p:spPr>
          <a:xfrm>
            <a:off x="3402330" y="693289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1F4E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 flow</a:t>
            </a:r>
            <a:endParaRPr sz="14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0" name="f2-data-up2-label"/>
          <p:cNvSpPr>
            <a:spLocks noGrp="1"/>
          </p:cNvSpPr>
          <p:nvPr/>
        </p:nvSpPr>
        <p:spPr>
          <a:xfrm>
            <a:off x="3401695" y="3888065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1F4E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 flow</a:t>
            </a:r>
            <a:endParaRPr sz="14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3" name="f2-control-down1-label"/>
          <p:cNvSpPr>
            <a:spLocks noGrp="1"/>
          </p:cNvSpPr>
          <p:nvPr/>
        </p:nvSpPr>
        <p:spPr>
          <a:xfrm>
            <a:off x="7781290" y="3888065"/>
            <a:ext cx="1873885" cy="31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4E7D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4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Control / trigger flow</a:t>
            </a:r>
            <a:endParaRPr lang="en-US" altLang="zh-CN" sz="14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6" name="f2-control-down2-label"/>
          <p:cNvSpPr>
            <a:spLocks noGrp="1"/>
          </p:cNvSpPr>
          <p:nvPr/>
        </p:nvSpPr>
        <p:spPr>
          <a:xfrm>
            <a:off x="7722870" y="6932890"/>
            <a:ext cx="2051685" cy="2787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4E7D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4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Control / trigger flow</a:t>
            </a:r>
            <a:endParaRPr lang="en-US" altLang="zh-CN" sz="14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7" name="f2-feedback-label"/>
          <p:cNvSpPr>
            <a:spLocks noGrp="1"/>
          </p:cNvSpPr>
          <p:nvPr/>
        </p:nvSpPr>
        <p:spPr>
          <a:xfrm>
            <a:off x="11610340" y="4715470"/>
            <a:ext cx="2026920" cy="15500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1F4E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Feedback records:</a:t>
            </a:r>
            <a:r>
              <a:rPr lang="en-US" altLang="zh-CN" sz="160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endParaRPr lang="en-US" altLang="zh-CN" sz="1600" b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425" b="1">
                <a:solidFill>
                  <a:srgbClr val="1F4E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40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disposal results, </a:t>
            </a:r>
            <a:endParaRPr lang="en-US" altLang="zh-CN" sz="1400" b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425" b="1">
                <a:solidFill>
                  <a:srgbClr val="1F4E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40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closure evidence, model/workflow updates</a:t>
            </a:r>
            <a:endParaRPr lang="en-US" altLang="zh-CN" sz="1400" b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115" name="直接箭头连接符 114"/>
          <p:cNvCxnSpPr/>
          <p:nvPr/>
        </p:nvCxnSpPr>
        <p:spPr>
          <a:xfrm flipH="1" flipV="1">
            <a:off x="3257550" y="3672165"/>
            <a:ext cx="635" cy="720090"/>
          </a:xfrm>
          <a:prstGeom prst="straightConnector1">
            <a:avLst/>
          </a:prstGeom>
          <a:ln w="25400" cmpd="sng">
            <a:solidFill>
              <a:schemeClr val="tx1"/>
            </a:solidFill>
            <a:prstDash val="solid"/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6" name="直接箭头连接符 115"/>
          <p:cNvCxnSpPr/>
          <p:nvPr/>
        </p:nvCxnSpPr>
        <p:spPr>
          <a:xfrm flipV="1">
            <a:off x="3257550" y="6768425"/>
            <a:ext cx="635" cy="720090"/>
          </a:xfrm>
          <a:prstGeom prst="straightConnector1">
            <a:avLst/>
          </a:prstGeom>
          <a:ln w="25400" cmpd="sng">
            <a:solidFill>
              <a:schemeClr val="tx1"/>
            </a:solidFill>
            <a:prstDash val="solid"/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/>
          <p:nvPr/>
        </p:nvCxnSpPr>
        <p:spPr>
          <a:xfrm>
            <a:off x="7649845" y="6768425"/>
            <a:ext cx="0" cy="720090"/>
          </a:xfrm>
          <a:prstGeom prst="straightConnector1">
            <a:avLst/>
          </a:prstGeom>
          <a:ln w="25400" cmpd="sng"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0" name="直接箭头连接符 119"/>
          <p:cNvCxnSpPr/>
          <p:nvPr/>
        </p:nvCxnSpPr>
        <p:spPr>
          <a:xfrm flipH="1" flipV="1">
            <a:off x="7734300" y="3685500"/>
            <a:ext cx="635" cy="720090"/>
          </a:xfrm>
          <a:prstGeom prst="straightConnector1">
            <a:avLst/>
          </a:prstGeom>
          <a:ln w="25400" cmpd="sng">
            <a:solidFill>
              <a:schemeClr val="tx1"/>
            </a:solidFill>
            <a:prstDash val="solid"/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24" name="组合 123"/>
          <p:cNvGrpSpPr/>
          <p:nvPr/>
        </p:nvGrpSpPr>
        <p:grpSpPr>
          <a:xfrm>
            <a:off x="6559550" y="3731260"/>
            <a:ext cx="1103630" cy="639445"/>
            <a:chOff x="10746" y="4575"/>
            <a:chExt cx="1370" cy="1007"/>
          </a:xfrm>
        </p:grpSpPr>
        <p:sp>
          <p:nvSpPr>
            <p:cNvPr id="123" name="f2-response-chain-D-box"/>
            <p:cNvSpPr>
              <a:spLocks noGrp="1"/>
            </p:cNvSpPr>
            <p:nvPr/>
          </p:nvSpPr>
          <p:spPr>
            <a:xfrm>
              <a:off x="10746" y="4575"/>
              <a:ext cx="1349" cy="929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chemeClr val="tx1"/>
              </a:solidFill>
              <a:prstDash val="solid"/>
            </a:ln>
          </p:spPr>
        </p:sp>
        <p:sp>
          <p:nvSpPr>
            <p:cNvPr id="38" name="f2-response-chain-W-text"/>
            <p:cNvSpPr>
              <a:spLocks noGrp="1"/>
            </p:cNvSpPr>
            <p:nvPr/>
          </p:nvSpPr>
          <p:spPr>
            <a:xfrm>
              <a:off x="10746" y="5102"/>
              <a:ext cx="1370" cy="48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0" tIns="0" rIns="0" bIns="0" anchor="ctr"/>
            <a:lstStyle/>
            <a:p>
              <a:pPr algn="ctr">
                <a:defRPr sz="1125" b="0">
                  <a:solidFill>
                    <a:srgbClr val="222B3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lang="en-US" altLang="zh-CN" sz="1200" b="0">
                  <a:solidFill>
                    <a:schemeClr val="tx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Warning output</a:t>
              </a:r>
              <a:endParaRPr lang="en-US" altLang="zh-CN" sz="120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22" name="文本框 121"/>
            <p:cNvSpPr txBox="1"/>
            <p:nvPr/>
          </p:nvSpPr>
          <p:spPr>
            <a:xfrm>
              <a:off x="11137" y="4661"/>
              <a:ext cx="567" cy="5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buClrTx/>
                <a:buSzTx/>
                <a:buFontTx/>
                <a:defRPr sz="15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>
                  <a:solidFill>
                    <a:schemeClr val="tx1"/>
                  </a:solidFill>
                </a:rPr>
                <a:t>W</a:t>
              </a:r>
              <a:endParaRPr>
                <a:solidFill>
                  <a:schemeClr val="tx1"/>
                </a:solidFill>
              </a:endParaRPr>
            </a:p>
          </p:txBody>
        </p:sp>
      </p:grpSp>
      <p:cxnSp>
        <p:nvCxnSpPr>
          <p:cNvPr id="126" name="直接箭头连接符 125"/>
          <p:cNvCxnSpPr/>
          <p:nvPr/>
        </p:nvCxnSpPr>
        <p:spPr>
          <a:xfrm flipH="1">
            <a:off x="11178540" y="5400000"/>
            <a:ext cx="431800" cy="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8" name="直接箭头连接符 127"/>
          <p:cNvCxnSpPr>
            <a:stCxn id="75" idx="3"/>
            <a:endCxn id="78" idx="1"/>
          </p:cNvCxnSpPr>
          <p:nvPr/>
        </p:nvCxnSpPr>
        <p:spPr>
          <a:xfrm>
            <a:off x="9239250" y="8639135"/>
            <a:ext cx="381000" cy="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bevel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0" name="肘形连接符 129"/>
          <p:cNvCxnSpPr>
            <a:endCxn id="62" idx="0"/>
          </p:cNvCxnSpPr>
          <p:nvPr/>
        </p:nvCxnSpPr>
        <p:spPr>
          <a:xfrm rot="10800000" flipV="1">
            <a:off x="8453120" y="4613870"/>
            <a:ext cx="3148965" cy="307975"/>
          </a:xfrm>
          <a:prstGeom prst="bentConnector2">
            <a:avLst/>
          </a:prstGeom>
          <a:ln w="28575" cmpd="sng">
            <a:solidFill>
              <a:schemeClr val="tx1"/>
            </a:solidFill>
            <a:prstDash val="sysDash"/>
            <a:bevel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2" name="f2-response-chain-D-box"/>
          <p:cNvSpPr>
            <a:spLocks noGrp="1"/>
          </p:cNvSpPr>
          <p:nvPr/>
        </p:nvSpPr>
        <p:spPr>
          <a:xfrm>
            <a:off x="2035175" y="6808470"/>
            <a:ext cx="1162050" cy="576580"/>
          </a:xfrm>
          <a:prstGeom prst="rect">
            <a:avLst/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34" name="f2-response-chain-W-text"/>
          <p:cNvSpPr>
            <a:spLocks noGrp="1"/>
          </p:cNvSpPr>
          <p:nvPr/>
        </p:nvSpPr>
        <p:spPr>
          <a:xfrm>
            <a:off x="2035175" y="7135495"/>
            <a:ext cx="1161415" cy="2978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20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Perception input</a:t>
            </a:r>
            <a:endParaRPr lang="en-US" altLang="zh-CN" sz="1200" b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2374900" y="6858635"/>
            <a:ext cx="48069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  <a:def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>
                <a:solidFill>
                  <a:schemeClr val="tx1"/>
                </a:solidFill>
              </a:rPr>
              <a:t>P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f1-chain-P-circle"/>
          <p:cNvSpPr>
            <a:spLocks noGrp="1"/>
          </p:cNvSpPr>
          <p:nvPr/>
        </p:nvSpPr>
        <p:spPr>
          <a:xfrm>
            <a:off x="4824254" y="2294850"/>
            <a:ext cx="323850" cy="323850"/>
          </a:xfrm>
          <a:prstGeom prst="rect">
            <a:avLst/>
          </a:prstGeom>
          <a:noFill/>
          <a:ln w="9525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1F4E79"/>
                </a:solidFill>
              </a14:hiddenFill>
            </a:ext>
          </a:extLst>
        </p:spPr>
      </p:sp>
      <p:sp>
        <p:nvSpPr>
          <p:cNvPr id="82" name="f1-chain-W-circle"/>
          <p:cNvSpPr>
            <a:spLocks noGrp="1"/>
          </p:cNvSpPr>
          <p:nvPr/>
        </p:nvSpPr>
        <p:spPr>
          <a:xfrm>
            <a:off x="5841841" y="2294850"/>
            <a:ext cx="323850" cy="323850"/>
          </a:xfrm>
          <a:prstGeom prst="rect">
            <a:avLst/>
          </a:prstGeom>
          <a:noFill/>
          <a:ln w="9525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1F4E79"/>
                </a:solidFill>
              </a14:hiddenFill>
            </a:ext>
          </a:extLst>
        </p:spPr>
      </p:sp>
      <p:grpSp>
        <p:nvGrpSpPr>
          <p:cNvPr id="107" name="组合 106"/>
          <p:cNvGrpSpPr/>
          <p:nvPr/>
        </p:nvGrpSpPr>
        <p:grpSpPr>
          <a:xfrm>
            <a:off x="6296978" y="2089785"/>
            <a:ext cx="3844290" cy="1009650"/>
            <a:chOff x="10431" y="3291"/>
            <a:chExt cx="6054" cy="1590"/>
          </a:xfrm>
        </p:grpSpPr>
        <p:sp>
          <p:nvSpPr>
            <p:cNvPr id="35" name="f1-chain-P-box"/>
            <p:cNvSpPr>
              <a:spLocks noGrp="1"/>
            </p:cNvSpPr>
            <p:nvPr/>
          </p:nvSpPr>
          <p:spPr>
            <a:xfrm>
              <a:off x="10431" y="3291"/>
              <a:ext cx="6055" cy="1590"/>
            </a:xfrm>
            <a:prstGeom prst="rect">
              <a:avLst/>
            </a:prstGeom>
            <a:solidFill>
              <a:srgbClr val="FFFFFF"/>
            </a:solidFill>
            <a:ln w="12700" cmpd="sng">
              <a:solidFill>
                <a:schemeClr val="tx1"/>
              </a:solidFill>
              <a:prstDash val="solid"/>
            </a:ln>
          </p:spPr>
        </p:sp>
        <p:sp>
          <p:nvSpPr>
            <p:cNvPr id="85" name="f1-chain-D-circle"/>
            <p:cNvSpPr>
              <a:spLocks noGrp="1"/>
            </p:cNvSpPr>
            <p:nvPr/>
          </p:nvSpPr>
          <p:spPr>
            <a:xfrm>
              <a:off x="10802" y="3614"/>
              <a:ext cx="510" cy="510"/>
            </a:xfrm>
            <a:prstGeom prst="rect">
              <a:avLst/>
            </a:prstGeom>
            <a:noFill/>
            <a:ln w="9525">
              <a:noFill/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1F4E79"/>
                  </a:solidFill>
                </a14:hiddenFill>
              </a:ext>
            </a:extLst>
          </p:spPr>
        </p:sp>
        <p:sp>
          <p:nvSpPr>
            <p:cNvPr id="86" name="f1-chain-D-label"/>
            <p:cNvSpPr>
              <a:spLocks noGrp="1"/>
            </p:cNvSpPr>
            <p:nvPr/>
          </p:nvSpPr>
          <p:spPr>
            <a:xfrm>
              <a:off x="10802" y="3629"/>
              <a:ext cx="510" cy="48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0" tIns="0" rIns="0" bIns="0" anchor="ctr"/>
            <a:lstStyle/>
            <a:p>
              <a:pPr algn="ctr">
                <a:defRPr sz="15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600" b="1">
                  <a:solidFill>
                    <a:schemeClr val="tx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</a:t>
              </a:r>
              <a:endParaRPr sz="16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88" name="f1-chain-D-text"/>
            <p:cNvSpPr>
              <a:spLocks noGrp="1"/>
            </p:cNvSpPr>
            <p:nvPr/>
          </p:nvSpPr>
          <p:spPr>
            <a:xfrm>
              <a:off x="10436" y="4071"/>
              <a:ext cx="1243" cy="48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0" tIns="0" rIns="0" bIns="0" anchor="ctr"/>
            <a:lstStyle/>
            <a:p>
              <a:pPr algn="ctr">
                <a:defRPr sz="1125" b="0">
                  <a:solidFill>
                    <a:srgbClr val="222B3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200" b="0">
                  <a:solidFill>
                    <a:schemeClr val="tx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Dispatch</a:t>
              </a:r>
              <a:endParaRPr sz="1125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89" name="f1-chain-A-circle"/>
            <p:cNvSpPr>
              <a:spLocks noGrp="1"/>
            </p:cNvSpPr>
            <p:nvPr/>
          </p:nvSpPr>
          <p:spPr>
            <a:xfrm>
              <a:off x="12405" y="3614"/>
              <a:ext cx="510" cy="510"/>
            </a:xfrm>
            <a:prstGeom prst="rect">
              <a:avLst/>
            </a:prstGeom>
            <a:noFill/>
            <a:ln w="9525">
              <a:noFill/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1F4E79"/>
                  </a:solidFill>
                </a14:hiddenFill>
              </a:ext>
            </a:extLst>
          </p:spPr>
        </p:sp>
        <p:sp>
          <p:nvSpPr>
            <p:cNvPr id="91" name="f1-chain-A-label"/>
            <p:cNvSpPr>
              <a:spLocks noGrp="1"/>
            </p:cNvSpPr>
            <p:nvPr/>
          </p:nvSpPr>
          <p:spPr>
            <a:xfrm>
              <a:off x="12405" y="3629"/>
              <a:ext cx="510" cy="48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0" tIns="0" rIns="0" bIns="0" anchor="ctr"/>
            <a:lstStyle/>
            <a:p>
              <a:pPr algn="ctr">
                <a:defRPr sz="15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600" b="1">
                  <a:solidFill>
                    <a:schemeClr val="tx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</a:t>
              </a:r>
              <a:endParaRPr sz="16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2" name="f1-chain-A-text"/>
            <p:cNvSpPr>
              <a:spLocks noGrp="1"/>
            </p:cNvSpPr>
            <p:nvPr/>
          </p:nvSpPr>
          <p:spPr>
            <a:xfrm>
              <a:off x="12039" y="4071"/>
              <a:ext cx="1243" cy="48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0" tIns="0" rIns="0" bIns="0" anchor="ctr"/>
            <a:lstStyle/>
            <a:p>
              <a:pPr algn="ctr">
                <a:defRPr sz="1125" b="0">
                  <a:solidFill>
                    <a:srgbClr val="222B3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lang="en-US" altLang="zh-CN" sz="1200" b="0">
                  <a:solidFill>
                    <a:schemeClr val="tx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Response action</a:t>
              </a:r>
              <a:endParaRPr lang="en-US" altLang="zh-CN" sz="120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4" name="f1-chain-V-circle"/>
            <p:cNvSpPr>
              <a:spLocks noGrp="1"/>
            </p:cNvSpPr>
            <p:nvPr/>
          </p:nvSpPr>
          <p:spPr>
            <a:xfrm>
              <a:off x="14007" y="3614"/>
              <a:ext cx="510" cy="510"/>
            </a:xfrm>
            <a:prstGeom prst="rect">
              <a:avLst/>
            </a:prstGeom>
            <a:noFill/>
            <a:ln w="9525">
              <a:noFill/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1F4E79"/>
                  </a:solidFill>
                </a14:hiddenFill>
              </a:ext>
            </a:extLst>
          </p:spPr>
        </p:sp>
        <p:sp>
          <p:nvSpPr>
            <p:cNvPr id="95" name="f1-chain-V-label"/>
            <p:cNvSpPr>
              <a:spLocks noGrp="1"/>
            </p:cNvSpPr>
            <p:nvPr/>
          </p:nvSpPr>
          <p:spPr>
            <a:xfrm>
              <a:off x="14007" y="3629"/>
              <a:ext cx="510" cy="48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0" tIns="0" rIns="0" bIns="0" anchor="ctr"/>
            <a:lstStyle/>
            <a:p>
              <a:pPr algn="ctr">
                <a:defRPr sz="15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600" b="1">
                  <a:solidFill>
                    <a:schemeClr val="tx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V</a:t>
              </a:r>
              <a:endParaRPr sz="16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8" name="f1-chain-V-text"/>
            <p:cNvSpPr>
              <a:spLocks noGrp="1"/>
            </p:cNvSpPr>
            <p:nvPr/>
          </p:nvSpPr>
          <p:spPr>
            <a:xfrm>
              <a:off x="13641" y="4071"/>
              <a:ext cx="1243" cy="48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0" tIns="0" rIns="0" bIns="0" anchor="ctr"/>
            <a:lstStyle/>
            <a:p>
              <a:pPr algn="ctr">
                <a:defRPr sz="1125" b="0">
                  <a:solidFill>
                    <a:srgbClr val="222B3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lang="en-US" altLang="zh-CN" sz="1200" b="0">
                  <a:solidFill>
                    <a:schemeClr val="tx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Verification</a:t>
              </a:r>
              <a:endParaRPr lang="en-US" altLang="zh-CN" sz="120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9" name="f1-chain-F-circle"/>
            <p:cNvSpPr>
              <a:spLocks noGrp="1"/>
            </p:cNvSpPr>
            <p:nvPr/>
          </p:nvSpPr>
          <p:spPr>
            <a:xfrm>
              <a:off x="15610" y="3614"/>
              <a:ext cx="510" cy="510"/>
            </a:xfrm>
            <a:prstGeom prst="rect">
              <a:avLst/>
            </a:prstGeom>
            <a:noFill/>
            <a:ln w="9525">
              <a:noFill/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1F4E79"/>
                  </a:solidFill>
                </a14:hiddenFill>
              </a:ext>
            </a:extLst>
          </p:spPr>
        </p:sp>
        <p:sp>
          <p:nvSpPr>
            <p:cNvPr id="100" name="f1-chain-F-label"/>
            <p:cNvSpPr>
              <a:spLocks noGrp="1"/>
            </p:cNvSpPr>
            <p:nvPr/>
          </p:nvSpPr>
          <p:spPr>
            <a:xfrm>
              <a:off x="15610" y="3629"/>
              <a:ext cx="510" cy="48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0" tIns="0" rIns="0" bIns="0" anchor="ctr"/>
            <a:lstStyle/>
            <a:p>
              <a:pPr algn="ctr">
                <a:defRPr sz="15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600" b="1">
                  <a:solidFill>
                    <a:schemeClr val="tx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</a:t>
              </a:r>
              <a:endParaRPr sz="16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1" name="f1-chain-F-text"/>
            <p:cNvSpPr>
              <a:spLocks noGrp="1"/>
            </p:cNvSpPr>
            <p:nvPr/>
          </p:nvSpPr>
          <p:spPr>
            <a:xfrm>
              <a:off x="15243" y="4071"/>
              <a:ext cx="1243" cy="48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0" tIns="0" rIns="0" bIns="0" anchor="ctr"/>
            <a:lstStyle/>
            <a:p>
              <a:pPr algn="ctr">
                <a:defRPr sz="1125" b="0">
                  <a:solidFill>
                    <a:srgbClr val="222B3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200" b="0">
                  <a:solidFill>
                    <a:schemeClr val="tx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Feedback</a:t>
              </a:r>
              <a:endParaRPr sz="120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cxnSp>
          <p:nvCxnSpPr>
            <p:cNvPr id="104" name="直接箭头连接符 103"/>
            <p:cNvCxnSpPr/>
            <p:nvPr/>
          </p:nvCxnSpPr>
          <p:spPr>
            <a:xfrm>
              <a:off x="11585" y="4071"/>
              <a:ext cx="454" cy="0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prstDash val="solid"/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5" name="直接箭头连接符 104"/>
            <p:cNvCxnSpPr/>
            <p:nvPr/>
          </p:nvCxnSpPr>
          <p:spPr>
            <a:xfrm>
              <a:off x="13173" y="4071"/>
              <a:ext cx="454" cy="0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prstDash val="solid"/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6" name="直接箭头连接符 105"/>
            <p:cNvCxnSpPr/>
            <p:nvPr/>
          </p:nvCxnSpPr>
          <p:spPr>
            <a:xfrm>
              <a:off x="14884" y="4071"/>
              <a:ext cx="454" cy="0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prstDash val="solid"/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108" name="直接箭头连接符 107"/>
          <p:cNvCxnSpPr/>
          <p:nvPr/>
        </p:nvCxnSpPr>
        <p:spPr>
          <a:xfrm>
            <a:off x="7073900" y="8712160"/>
            <a:ext cx="406400" cy="254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bevel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9" name="直接箭头连接符 108"/>
          <p:cNvCxnSpPr/>
          <p:nvPr/>
        </p:nvCxnSpPr>
        <p:spPr>
          <a:xfrm>
            <a:off x="7125335" y="5567005"/>
            <a:ext cx="381000" cy="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bevel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0" name="直接箭头连接符 109"/>
          <p:cNvCxnSpPr/>
          <p:nvPr/>
        </p:nvCxnSpPr>
        <p:spPr>
          <a:xfrm>
            <a:off x="9253220" y="5567005"/>
            <a:ext cx="381000" cy="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bevel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1" name="肘形连接符 110"/>
          <p:cNvCxnSpPr>
            <a:stCxn id="2" idx="3"/>
            <a:endCxn id="119" idx="0"/>
          </p:cNvCxnSpPr>
          <p:nvPr/>
        </p:nvCxnSpPr>
        <p:spPr>
          <a:xfrm>
            <a:off x="11334750" y="2518410"/>
            <a:ext cx="1283970" cy="1873885"/>
          </a:xfrm>
          <a:prstGeom prst="bentConnector2">
            <a:avLst/>
          </a:prstGeom>
          <a:ln w="28575" cmpd="sng">
            <a:solidFill>
              <a:schemeClr val="tx1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2" name="肘形连接符 111"/>
          <p:cNvCxnSpPr>
            <a:stCxn id="119" idx="2"/>
            <a:endCxn id="72" idx="3"/>
          </p:cNvCxnSpPr>
          <p:nvPr/>
        </p:nvCxnSpPr>
        <p:spPr>
          <a:xfrm rot="5400000">
            <a:off x="10953750" y="6974840"/>
            <a:ext cx="1889760" cy="1440180"/>
          </a:xfrm>
          <a:prstGeom prst="bentConnector2">
            <a:avLst/>
          </a:prstGeom>
          <a:ln w="28575" cmpd="sng">
            <a:solidFill>
              <a:schemeClr val="tx1"/>
            </a:solidFill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f3-p-box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57250" y="2901910"/>
            <a:ext cx="3333750" cy="1047750"/>
          </a:xfrm>
          <a:prstGeom prst="rect">
            <a:avLst/>
          </a:prstGeom>
          <a:solidFill>
            <a:srgbClr val="F8FBFD"/>
          </a:solidFill>
          <a:ln w="17145">
            <a:solidFill>
              <a:srgbClr val="1F4E79"/>
            </a:solidFill>
            <a:prstDash val="solid"/>
          </a:ln>
        </p:spPr>
      </p:sp>
      <p:sp>
        <p:nvSpPr>
          <p:cNvPr id="11" name="f3-p-num-circle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076325" y="3025735"/>
            <a:ext cx="400050" cy="40005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12" name="f3-p-num-label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076325" y="303526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chemeClr val="bg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</a:rPr>
              <a:t>1</a:t>
            </a:r>
            <a:endParaRPr sz="1575" b="1">
              <a:solidFill>
                <a:schemeClr val="bg1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13" name="f3-p-title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695450" y="3073400"/>
            <a:ext cx="25368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725" b="1">
                <a:solidFill>
                  <a:srgbClr val="1F4E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</a:rPr>
              <a:t>Perception input</a:t>
            </a:r>
            <a:endParaRPr sz="1800" b="1">
              <a:solidFill>
                <a:schemeClr val="tx1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14" name="f3-p-body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695450" y="3425785"/>
            <a:ext cx="2266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400" b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</a:rPr>
              <a:t>sensors, video analytics, continuous monitoring</a:t>
            </a:r>
            <a:endParaRPr lang="en-US" altLang="zh-CN" sz="1400" b="0">
              <a:solidFill>
                <a:schemeClr val="tx1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15" name="f3-w-box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5255260" y="2901910"/>
            <a:ext cx="3333750" cy="1047750"/>
          </a:xfrm>
          <a:prstGeom prst="rect">
            <a:avLst/>
          </a:prstGeom>
          <a:solidFill>
            <a:srgbClr val="FBEDE8"/>
          </a:solidFill>
          <a:ln w="17145">
            <a:solidFill>
              <a:srgbClr val="4E7D55"/>
            </a:solidFill>
            <a:prstDash val="solid"/>
          </a:ln>
        </p:spPr>
      </p:sp>
      <p:sp>
        <p:nvSpPr>
          <p:cNvPr id="16" name="f3-w-num-circle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492750" y="3025735"/>
            <a:ext cx="400050" cy="40005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solidFill>
              <a:srgbClr val="28777A"/>
            </a:solidFill>
            <a:prstDash val="solid"/>
          </a:ln>
        </p:spPr>
      </p:sp>
      <p:sp>
        <p:nvSpPr>
          <p:cNvPr id="17" name="f3-w-num-label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5492750" y="303526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chemeClr val="bg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</a:rPr>
              <a:t>2</a:t>
            </a:r>
            <a:endParaRPr sz="1575" b="1">
              <a:solidFill>
                <a:schemeClr val="bg1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18" name="f3-w-title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111875" y="3073400"/>
            <a:ext cx="284289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725" b="1">
                <a:solidFill>
                  <a:srgbClr val="28777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</a:rPr>
              <a:t>Warning interpretation</a:t>
            </a:r>
            <a:endParaRPr sz="1800" b="1">
              <a:solidFill>
                <a:schemeClr val="tx1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19" name="f3-w-body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111875" y="3425785"/>
            <a:ext cx="2266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400" b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</a:rPr>
              <a:t>data fusion, risk grading, warning release</a:t>
            </a:r>
            <a:endParaRPr lang="en-US" altLang="zh-CN" sz="1400" b="0">
              <a:solidFill>
                <a:schemeClr val="tx1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25" name="f3-a-box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9639935" y="2901950"/>
            <a:ext cx="3333750" cy="1047750"/>
          </a:xfrm>
          <a:prstGeom prst="rect">
            <a:avLst/>
          </a:prstGeom>
          <a:solidFill>
            <a:srgbClr val="FBEDE8"/>
          </a:solidFill>
          <a:ln w="17145">
            <a:solidFill>
              <a:srgbClr val="28777A"/>
            </a:solidFill>
            <a:prstDash val="solid"/>
          </a:ln>
        </p:spPr>
      </p:sp>
      <p:sp>
        <p:nvSpPr>
          <p:cNvPr id="26" name="f3-a-num-circle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859010" y="3025775"/>
            <a:ext cx="400050" cy="400050"/>
          </a:xfrm>
          <a:prstGeom prst="rect">
            <a:avLst/>
          </a:prstGeom>
          <a:solidFill>
            <a:srgbClr val="4E7D55"/>
          </a:solidFill>
          <a:ln w="9525">
            <a:solidFill>
              <a:srgbClr val="28777A"/>
            </a:solidFill>
            <a:prstDash val="solid"/>
          </a:ln>
        </p:spPr>
      </p:sp>
      <p:sp>
        <p:nvSpPr>
          <p:cNvPr id="27" name="f3-a-num-label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9859010" y="3035300"/>
            <a:ext cx="400050" cy="381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575" b="1">
                <a:solidFill>
                  <a:schemeClr val="bg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</a:rPr>
              <a:t>3</a:t>
            </a:r>
            <a:endParaRPr lang="en-US" sz="1575" b="1">
              <a:solidFill>
                <a:schemeClr val="bg1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28" name="f3-a-title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10478135" y="3073400"/>
            <a:ext cx="25368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725" b="1">
                <a:solidFill>
                  <a:srgbClr val="28777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</a:rPr>
              <a:t>Task dispatch</a:t>
            </a:r>
            <a:endParaRPr sz="1800" b="1">
              <a:solidFill>
                <a:schemeClr val="tx1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29" name="f3-a-body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10478135" y="3425825"/>
            <a:ext cx="2266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</a:rPr>
              <a:t>work order, responsible party, deadline</a:t>
            </a:r>
            <a:endParaRPr sz="1400" b="0">
              <a:solidFill>
                <a:schemeClr val="tx1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30" name="f3-v-box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9639935" y="5330825"/>
            <a:ext cx="3333750" cy="1047750"/>
          </a:xfrm>
          <a:prstGeom prst="rect">
            <a:avLst/>
          </a:prstGeom>
          <a:solidFill>
            <a:srgbClr val="FBEDE8"/>
          </a:solidFill>
          <a:ln w="17145">
            <a:solidFill>
              <a:srgbClr val="4E7D55"/>
            </a:solidFill>
            <a:prstDash val="solid"/>
          </a:ln>
        </p:spPr>
      </p:sp>
      <p:sp>
        <p:nvSpPr>
          <p:cNvPr id="31" name="f3-v-num-circle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9859010" y="5454650"/>
            <a:ext cx="400050" cy="400050"/>
          </a:xfrm>
          <a:prstGeom prst="rect">
            <a:avLst/>
          </a:prstGeom>
          <a:solidFill>
            <a:srgbClr val="4E7D55"/>
          </a:solidFill>
          <a:ln w="9525">
            <a:solidFill>
              <a:srgbClr val="4E7D55"/>
            </a:solidFill>
            <a:prstDash val="solid"/>
          </a:ln>
        </p:spPr>
      </p:sp>
      <p:sp>
        <p:nvSpPr>
          <p:cNvPr id="32" name="f3-v-num-label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9859010" y="5464175"/>
            <a:ext cx="400050" cy="381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575" b="1">
                <a:solidFill>
                  <a:schemeClr val="bg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</a:rPr>
              <a:t>4</a:t>
            </a:r>
            <a:endParaRPr lang="en-US" sz="1575" b="1">
              <a:solidFill>
                <a:schemeClr val="bg1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33" name="f3-v-title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10478135" y="5502275"/>
            <a:ext cx="25368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725" b="1">
                <a:solidFill>
                  <a:srgbClr val="4E7D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</a:rPr>
              <a:t>Response action</a:t>
            </a:r>
            <a:endParaRPr lang="en-US" altLang="zh-CN" sz="1800" b="1">
              <a:solidFill>
                <a:schemeClr val="tx1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34" name="f3-v-body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10478135" y="5854700"/>
            <a:ext cx="254063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</a:rPr>
              <a:t>ventilation, power cut-off, evacuation, equipment control</a:t>
            </a:r>
            <a:endParaRPr sz="1400" b="0">
              <a:solidFill>
                <a:schemeClr val="tx1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35" name="f3-f-box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5255260" y="5382855"/>
            <a:ext cx="3333750" cy="1047750"/>
          </a:xfrm>
          <a:prstGeom prst="rect">
            <a:avLst/>
          </a:prstGeom>
          <a:solidFill>
            <a:srgbClr val="F8FBFD"/>
          </a:solidFill>
          <a:ln w="17145">
            <a:solidFill>
              <a:srgbClr val="1F4E79"/>
            </a:solidFill>
            <a:prstDash val="solid"/>
          </a:ln>
        </p:spPr>
      </p:sp>
      <p:sp>
        <p:nvSpPr>
          <p:cNvPr id="36" name="f3-f-num-circle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5474335" y="5506680"/>
            <a:ext cx="400050" cy="40005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37" name="f3-f-num-label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5474335" y="5516205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575" b="1">
                <a:solidFill>
                  <a:schemeClr val="bg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</a:rPr>
              <a:t>5</a:t>
            </a:r>
            <a:endParaRPr lang="en-US" sz="1575" b="1">
              <a:solidFill>
                <a:schemeClr val="bg1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38" name="f3-f-title"/>
          <p:cNvSpPr>
            <a:spLocks noGrp="1"/>
          </p:cNvSpPr>
          <p:nvPr>
            <p:custDataLst>
              <p:tags r:id="rId24"/>
            </p:custDataLst>
          </p:nvPr>
        </p:nvSpPr>
        <p:spPr>
          <a:xfrm>
            <a:off x="6093460" y="5554345"/>
            <a:ext cx="2440940" cy="3187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725" b="1">
                <a:solidFill>
                  <a:srgbClr val="4E7D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Verification / closure</a:t>
            </a:r>
            <a:endParaRPr lang="en-US" altLang="zh-CN" sz="1800" b="1">
              <a:solidFill>
                <a:schemeClr val="tx1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  <a:sym typeface="+mn-ea"/>
            </a:endParaRPr>
          </a:p>
        </p:txBody>
      </p:sp>
      <p:sp>
        <p:nvSpPr>
          <p:cNvPr id="39" name="f3-f-body"/>
          <p:cNvSpPr>
            <a:spLocks noGrp="1"/>
          </p:cNvSpPr>
          <p:nvPr>
            <p:custDataLst>
              <p:tags r:id="rId25"/>
            </p:custDataLst>
          </p:nvPr>
        </p:nvSpPr>
        <p:spPr>
          <a:xfrm>
            <a:off x="6093460" y="5906730"/>
            <a:ext cx="2266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acceptance check, closure record, residual-risk check</a:t>
            </a:r>
            <a:endParaRPr lang="en-US" altLang="zh-CN" sz="1400" b="0">
              <a:solidFill>
                <a:schemeClr val="tx1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  <a:sym typeface="+mn-ea"/>
            </a:endParaRPr>
          </a:p>
        </p:txBody>
      </p:sp>
      <p:sp>
        <p:nvSpPr>
          <p:cNvPr id="47" name="f3-f-box"/>
          <p:cNvSpPr>
            <a:spLocks noGrp="1"/>
          </p:cNvSpPr>
          <p:nvPr>
            <p:custDataLst>
              <p:tags r:id="rId26"/>
            </p:custDataLst>
          </p:nvPr>
        </p:nvSpPr>
        <p:spPr>
          <a:xfrm>
            <a:off x="857250" y="5402540"/>
            <a:ext cx="3333750" cy="1047750"/>
          </a:xfrm>
          <a:prstGeom prst="rect">
            <a:avLst/>
          </a:prstGeom>
          <a:solidFill>
            <a:srgbClr val="F8FBFD"/>
          </a:solidFill>
          <a:ln w="17145">
            <a:solidFill>
              <a:srgbClr val="1F4E79"/>
            </a:solidFill>
            <a:prstDash val="solid"/>
          </a:ln>
        </p:spPr>
      </p:sp>
      <p:sp>
        <p:nvSpPr>
          <p:cNvPr id="49" name="f3-f-num-circle"/>
          <p:cNvSpPr>
            <a:spLocks noGrp="1"/>
          </p:cNvSpPr>
          <p:nvPr>
            <p:custDataLst>
              <p:tags r:id="rId27"/>
            </p:custDataLst>
          </p:nvPr>
        </p:nvSpPr>
        <p:spPr>
          <a:xfrm>
            <a:off x="1076325" y="5526365"/>
            <a:ext cx="400050" cy="40005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p>
            <a:endParaRPr lang="zh-CN" alt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f3-f-num-label"/>
          <p:cNvSpPr>
            <a:spLocks noGrp="1"/>
          </p:cNvSpPr>
          <p:nvPr>
            <p:custDataLst>
              <p:tags r:id="rId28"/>
            </p:custDataLst>
          </p:nvPr>
        </p:nvSpPr>
        <p:spPr>
          <a:xfrm>
            <a:off x="1076325" y="553589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chemeClr val="bg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</a:rPr>
              <a:t>6</a:t>
            </a:r>
            <a:endParaRPr sz="1575" b="1">
              <a:solidFill>
                <a:schemeClr val="bg1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53" name="f3-f-title"/>
          <p:cNvSpPr>
            <a:spLocks noGrp="1"/>
          </p:cNvSpPr>
          <p:nvPr>
            <p:custDataLst>
              <p:tags r:id="rId29"/>
            </p:custDataLst>
          </p:nvPr>
        </p:nvSpPr>
        <p:spPr>
          <a:xfrm>
            <a:off x="1695450" y="5574030"/>
            <a:ext cx="2440940" cy="3187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725" b="1">
                <a:solidFill>
                  <a:srgbClr val="1F4E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Feedback update</a:t>
            </a:r>
            <a:endParaRPr lang="en-US" altLang="zh-CN" sz="1800" b="1">
              <a:solidFill>
                <a:schemeClr val="tx1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  <a:sym typeface="+mn-ea"/>
            </a:endParaRPr>
          </a:p>
        </p:txBody>
      </p:sp>
      <p:sp>
        <p:nvSpPr>
          <p:cNvPr id="54" name="f3-f-body"/>
          <p:cNvSpPr>
            <a:spLocks noGrp="1"/>
          </p:cNvSpPr>
          <p:nvPr>
            <p:custDataLst>
              <p:tags r:id="rId30"/>
            </p:custDataLst>
          </p:nvPr>
        </p:nvSpPr>
        <p:spPr>
          <a:xfrm>
            <a:off x="1695450" y="5926415"/>
            <a:ext cx="2266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222B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400" b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</a:rPr>
              <a:t>rule revision; model/workflow update</a:t>
            </a:r>
            <a:endParaRPr lang="en-US" altLang="zh-CN" sz="1400" b="0">
              <a:solidFill>
                <a:schemeClr val="tx1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</p:txBody>
      </p:sp>
      <p:cxnSp>
        <p:nvCxnSpPr>
          <p:cNvPr id="62" name="直接箭头连接符 61"/>
          <p:cNvCxnSpPr>
            <a:stCxn id="10" idx="3"/>
            <a:endCxn id="15" idx="1"/>
          </p:cNvCxnSpPr>
          <p:nvPr>
            <p:custDataLst>
              <p:tags r:id="rId31"/>
            </p:custDataLst>
          </p:nvPr>
        </p:nvCxnSpPr>
        <p:spPr>
          <a:xfrm>
            <a:off x="4191000" y="3425825"/>
            <a:ext cx="1064260" cy="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>
            <p:custDataLst>
              <p:tags r:id="rId32"/>
            </p:custDataLst>
          </p:nvPr>
        </p:nvCxnSpPr>
        <p:spPr>
          <a:xfrm>
            <a:off x="4192905" y="5942965"/>
            <a:ext cx="1064260" cy="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>
            <p:custDataLst>
              <p:tags r:id="rId33"/>
            </p:custDataLst>
          </p:nvPr>
        </p:nvCxnSpPr>
        <p:spPr>
          <a:xfrm>
            <a:off x="8579485" y="5916930"/>
            <a:ext cx="1064260" cy="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>
            <p:custDataLst>
              <p:tags r:id="rId34"/>
            </p:custDataLst>
          </p:nvPr>
        </p:nvCxnSpPr>
        <p:spPr>
          <a:xfrm>
            <a:off x="8575675" y="3416300"/>
            <a:ext cx="1064260" cy="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>
            <a:stCxn id="25" idx="2"/>
            <a:endCxn id="30" idx="0"/>
          </p:cNvCxnSpPr>
          <p:nvPr>
            <p:custDataLst>
              <p:tags r:id="rId35"/>
            </p:custDataLst>
          </p:nvPr>
        </p:nvCxnSpPr>
        <p:spPr>
          <a:xfrm>
            <a:off x="11306810" y="3949700"/>
            <a:ext cx="0" cy="1381125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stCxn id="47" idx="0"/>
            <a:endCxn id="10" idx="2"/>
          </p:cNvCxnSpPr>
          <p:nvPr>
            <p:custDataLst>
              <p:tags r:id="rId36"/>
            </p:custDataLst>
          </p:nvPr>
        </p:nvCxnSpPr>
        <p:spPr>
          <a:xfrm flipV="1">
            <a:off x="2524125" y="3949700"/>
            <a:ext cx="0" cy="145288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2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3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4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5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6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7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8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9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10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11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12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13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14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15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16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17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18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19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20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21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22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23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24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25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26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27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28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29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30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31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32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33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34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35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ags/tag36.xml><?xml version="1.0" encoding="utf-8"?>
<p:tagLst xmlns:p="http://schemas.openxmlformats.org/presentationml/2006/main">
  <p:tag name="KSO_WM_DIAGRAM_VIRTUALLY_FRAME" val="{&quot;height&quot;:341.9500242218258,&quot;left&quot;:67.5,&quot;top&quot;:228.496826171875,&quot;width&quot;:957.6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1938</Words>
  <Application>WPS 演示</Application>
  <PresentationFormat>Converted Presentation</PresentationFormat>
  <Paragraphs>184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mly</cp:lastModifiedBy>
  <cp:revision>9</cp:revision>
  <dcterms:created xsi:type="dcterms:W3CDTF">2026-06-26T01:16:00Z</dcterms:created>
  <dcterms:modified xsi:type="dcterms:W3CDTF">2026-07-18T14:50:51Z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ACA4EC40DC054D4DAD3D0A0241158BC3_13</vt:lpwstr>
  </property>
</Properties>
</file>